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2"/>
  </p:notesMasterIdLst>
  <p:handoutMasterIdLst>
    <p:handoutMasterId r:id="rId33"/>
  </p:handoutMasterIdLst>
  <p:sldIdLst>
    <p:sldId id="275" r:id="rId2"/>
    <p:sldId id="257" r:id="rId3"/>
    <p:sldId id="265" r:id="rId4"/>
    <p:sldId id="261" r:id="rId5"/>
    <p:sldId id="289" r:id="rId6"/>
    <p:sldId id="266" r:id="rId7"/>
    <p:sldId id="277" r:id="rId8"/>
    <p:sldId id="278" r:id="rId9"/>
    <p:sldId id="271" r:id="rId10"/>
    <p:sldId id="272" r:id="rId11"/>
    <p:sldId id="273" r:id="rId12"/>
    <p:sldId id="274" r:id="rId13"/>
    <p:sldId id="279" r:id="rId14"/>
    <p:sldId id="281" r:id="rId15"/>
    <p:sldId id="270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90" r:id="rId24"/>
    <p:sldId id="295" r:id="rId25"/>
    <p:sldId id="269" r:id="rId26"/>
    <p:sldId id="280" r:id="rId27"/>
    <p:sldId id="291" r:id="rId28"/>
    <p:sldId id="292" r:id="rId29"/>
    <p:sldId id="294" r:id="rId30"/>
    <p:sldId id="296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BC03B-3427-1CFD-596C-1EC3DE81F682}" v="4" dt="2025-07-08T10:58:48.994"/>
    <p1510:client id="{15F29231-B1A6-B559-72A7-4FF3039A3C95}" v="7" dt="2025-07-09T00:12:08.693"/>
    <p1510:client id="{2F0B7104-A207-C3CA-D888-1AF05ACC384A}" v="42" dt="2025-07-07T08:07:31.802"/>
    <p1510:client id="{E505CAE5-B8F3-275E-389B-365A805D03C1}" v="999" dt="2025-07-08T19:54:18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Kiểu Trung bình 2 - Màu chủ đề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B80529-9523-4D7D-B18F-0236136FC73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FAD017-166F-4256-A772-0B4676C88B6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0" i="0" u="none" err="1">
              <a:solidFill>
                <a:schemeClr val="bg1"/>
              </a:solidFill>
              <a:latin typeface="Times New Roman"/>
              <a:ea typeface="Lato"/>
              <a:cs typeface="Lato"/>
            </a:rPr>
            <a:t>Không</a:t>
          </a:r>
          <a:r>
            <a:rPr lang="en-US" sz="1600" b="0" i="0" u="none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err="1">
              <a:solidFill>
                <a:schemeClr val="bg1"/>
              </a:solidFill>
              <a:latin typeface="Times New Roman"/>
              <a:ea typeface="Lato"/>
              <a:cs typeface="Lato"/>
            </a:rPr>
            <a:t>phụ</a:t>
          </a:r>
          <a:r>
            <a:rPr lang="en-US" sz="1600" b="0" i="0" u="none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err="1">
              <a:solidFill>
                <a:schemeClr val="bg1"/>
              </a:solidFill>
              <a:latin typeface="Times New Roman"/>
              <a:ea typeface="Lato"/>
              <a:cs typeface="Lato"/>
            </a:rPr>
            <a:t>thuộc</a:t>
          </a:r>
          <a:r>
            <a:rPr lang="en-US" sz="1600" b="0" i="0" u="none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err="1">
              <a:solidFill>
                <a:schemeClr val="bg1"/>
              </a:solidFill>
              <a:latin typeface="Times New Roman"/>
              <a:ea typeface="Lato"/>
              <a:cs typeface="Lato"/>
            </a:rPr>
            <a:t>vào</a:t>
          </a:r>
          <a:r>
            <a:rPr lang="en-US" sz="1600" b="0" i="0" u="none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err="1">
              <a:solidFill>
                <a:schemeClr val="bg1"/>
              </a:solidFill>
              <a:latin typeface="Times New Roman"/>
              <a:ea typeface="Lato"/>
              <a:cs typeface="Lato"/>
            </a:rPr>
            <a:t>mô</a:t>
          </a:r>
          <a:r>
            <a:rPr lang="en-US" sz="1600" b="0" i="0" u="none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err="1">
              <a:solidFill>
                <a:schemeClr val="bg1"/>
              </a:solidFill>
              <a:latin typeface="Times New Roman"/>
              <a:ea typeface="Lato"/>
              <a:cs typeface="Lato"/>
            </a:rPr>
            <a:t>hình</a:t>
          </a:r>
          <a:r>
            <a:rPr lang="en-US" sz="1600" b="0" i="0" u="none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err="1">
              <a:solidFill>
                <a:schemeClr val="bg1"/>
              </a:solidFill>
              <a:latin typeface="Times New Roman"/>
              <a:ea typeface="Lato"/>
              <a:cs typeface="Lato"/>
            </a:rPr>
            <a:t>tiên</a:t>
          </a:r>
          <a:r>
            <a:rPr lang="vi-VN" sz="1600" b="0" i="0" u="none">
              <a:solidFill>
                <a:schemeClr val="bg1"/>
              </a:solidFill>
              <a:latin typeface="Times New Roman"/>
              <a:ea typeface="Lato"/>
              <a:cs typeface="Lato"/>
            </a:rPr>
            <a:t> nghiệm</a:t>
          </a:r>
          <a:endParaRPr lang="en-US" sz="1600" b="0">
            <a:solidFill>
              <a:schemeClr val="bg1"/>
            </a:solidFill>
            <a:latin typeface="Times New Roman"/>
            <a:ea typeface="Lato"/>
            <a:cs typeface="Lato"/>
          </a:endParaRPr>
        </a:p>
      </dgm:t>
    </dgm:pt>
    <dgm:pt modelId="{3068D5C0-DA49-41AD-9BA7-7AD66E749392}" type="parTrans" cxnId="{2390801F-1DE0-40BE-A9D1-2D68D74CEBBF}">
      <dgm:prSet/>
      <dgm:spPr/>
      <dgm:t>
        <a:bodyPr/>
        <a:lstStyle/>
        <a:p>
          <a:endParaRPr lang="en-US"/>
        </a:p>
      </dgm:t>
    </dgm:pt>
    <dgm:pt modelId="{75301EDE-0496-494D-83A9-C680F55A9E75}" type="sibTrans" cxnId="{2390801F-1DE0-40BE-A9D1-2D68D74CEBBF}">
      <dgm:prSet/>
      <dgm:spPr/>
      <dgm:t>
        <a:bodyPr/>
        <a:lstStyle/>
        <a:p>
          <a:endParaRPr lang="en-US"/>
        </a:p>
      </dgm:t>
    </dgm:pt>
    <dgm:pt modelId="{C20F3DA2-ED2E-425A-A54E-4C01FE39FFB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vi-VN" b="0" i="0" u="none">
              <a:latin typeface="Times New Roman"/>
              <a:cs typeface="Times New Roman"/>
            </a:rPr>
            <a:t>GAN không yêu cầu giả định trước về phân phối dữ liệu đầu vào hoặc công thức mô hình hóa kênh.</a:t>
          </a:r>
          <a:r>
            <a:rPr lang="en-US" b="0" i="0">
              <a:latin typeface="Times New Roman"/>
              <a:cs typeface="Times New Roman"/>
            </a:rPr>
            <a:t>​</a:t>
          </a:r>
          <a:endParaRPr lang="en-US">
            <a:latin typeface="Times New Roman"/>
            <a:cs typeface="Times New Roman"/>
          </a:endParaRPr>
        </a:p>
      </dgm:t>
    </dgm:pt>
    <dgm:pt modelId="{413615CC-8374-4E73-B9F6-A0BEEAC81C96}" type="parTrans" cxnId="{D0C54866-2093-4512-A215-AE7F3EEAB4A5}">
      <dgm:prSet/>
      <dgm:spPr/>
      <dgm:t>
        <a:bodyPr/>
        <a:lstStyle/>
        <a:p>
          <a:endParaRPr lang="en-US"/>
        </a:p>
      </dgm:t>
    </dgm:pt>
    <dgm:pt modelId="{458C424B-72A5-45BB-89A4-CD6EF7EB9BA8}" type="sibTrans" cxnId="{D0C54866-2093-4512-A215-AE7F3EEAB4A5}">
      <dgm:prSet/>
      <dgm:spPr/>
      <dgm:t>
        <a:bodyPr/>
        <a:lstStyle/>
        <a:p>
          <a:endParaRPr lang="en-US"/>
        </a:p>
      </dgm:t>
    </dgm:pt>
    <dgm:pt modelId="{A971D2C7-C2AE-4EFB-9AAF-A98161E7A0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vi-VN" b="0" i="0" u="none">
              <a:latin typeface="Times New Roman"/>
              <a:cs typeface="Times New Roman"/>
            </a:rPr>
            <a:t>GAN có khả năng học và sinh ra dữ liệu có đặc trưng thống kê giống dữ liệu đo thực tế</a:t>
          </a:r>
          <a:r>
            <a:rPr lang="vi-VN">
              <a:latin typeface="Times New Roman"/>
              <a:cs typeface="Times New Roman"/>
            </a:rPr>
            <a:t>.</a:t>
          </a:r>
          <a:endParaRPr lang="en-US">
            <a:latin typeface="Times New Roman"/>
            <a:cs typeface="Times New Roman"/>
          </a:endParaRPr>
        </a:p>
      </dgm:t>
    </dgm:pt>
    <dgm:pt modelId="{FB1DDA5F-3CBF-4439-B7D3-7ED2CC2CCD41}" type="parTrans" cxnId="{4466ED29-8803-45B2-B90E-0880AC89B8DC}">
      <dgm:prSet/>
      <dgm:spPr/>
      <dgm:t>
        <a:bodyPr/>
        <a:lstStyle/>
        <a:p>
          <a:endParaRPr lang="en-US"/>
        </a:p>
      </dgm:t>
    </dgm:pt>
    <dgm:pt modelId="{DB359A3B-FB7B-401A-A18B-04E7A44019F9}" type="sibTrans" cxnId="{4466ED29-8803-45B2-B90E-0880AC89B8DC}">
      <dgm:prSet/>
      <dgm:spPr/>
      <dgm:t>
        <a:bodyPr/>
        <a:lstStyle/>
        <a:p>
          <a:endParaRPr lang="en-US"/>
        </a:p>
      </dgm:t>
    </dgm:pt>
    <dgm:pt modelId="{724174A2-BA8D-4A54-80D0-68F3C7DF4011}">
      <dgm:prSet custT="1"/>
      <dgm:spPr/>
      <dgm:t>
        <a:bodyPr/>
        <a:lstStyle/>
        <a:p>
          <a:r>
            <a:rPr lang="vi-VN" sz="1600">
              <a:latin typeface="Times New Roman"/>
              <a:cs typeface="Times New Roman"/>
            </a:rPr>
            <a:t>Sinh dữ liệu có độ chính xác cao với số lượng lớn</a:t>
          </a:r>
          <a:endParaRPr lang="en-US" sz="1600">
            <a:latin typeface="Times New Roman"/>
            <a:cs typeface="Times New Roman"/>
          </a:endParaRPr>
        </a:p>
      </dgm:t>
    </dgm:pt>
    <dgm:pt modelId="{68B6B59B-103B-4C33-9823-9A5B731C3783}" type="parTrans" cxnId="{AD973A3B-1820-4366-925B-C23B672A9804}">
      <dgm:prSet/>
      <dgm:spPr/>
      <dgm:t>
        <a:bodyPr/>
        <a:lstStyle/>
        <a:p>
          <a:endParaRPr lang="en-US"/>
        </a:p>
      </dgm:t>
    </dgm:pt>
    <dgm:pt modelId="{2F1F9E20-8C4C-4428-8B9C-95C693AE6C9E}" type="sibTrans" cxnId="{AD973A3B-1820-4366-925B-C23B672A9804}">
      <dgm:prSet/>
      <dgm:spPr/>
      <dgm:t>
        <a:bodyPr/>
        <a:lstStyle/>
        <a:p>
          <a:endParaRPr lang="en-US"/>
        </a:p>
      </dgm:t>
    </dgm:pt>
    <dgm:pt modelId="{8E703336-BF9F-489D-A5A4-FAB1D11F012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vi-VN" b="0" i="0" u="none">
              <a:latin typeface="Times New Roman"/>
              <a:cs typeface="Times New Roman"/>
            </a:rPr>
            <a:t>Sau khi được huấn luyện, GAN có thể sinh ra vô số mẫu kênh truyền có phân phối tương tự dữ liệu thật.</a:t>
          </a:r>
          <a:endParaRPr lang="en-US">
            <a:latin typeface="Times New Roman"/>
            <a:cs typeface="Times New Roman"/>
          </a:endParaRPr>
        </a:p>
      </dgm:t>
    </dgm:pt>
    <dgm:pt modelId="{626FB630-61DF-4D41-945F-0FFBC67DBE0F}" type="parTrans" cxnId="{B8827C9C-815F-4895-807E-A60A0CB00CA6}">
      <dgm:prSet/>
      <dgm:spPr/>
      <dgm:t>
        <a:bodyPr/>
        <a:lstStyle/>
        <a:p>
          <a:endParaRPr lang="en-US"/>
        </a:p>
      </dgm:t>
    </dgm:pt>
    <dgm:pt modelId="{73480706-7758-4CAC-95E8-5CC90A770FAE}" type="sibTrans" cxnId="{B8827C9C-815F-4895-807E-A60A0CB00CA6}">
      <dgm:prSet/>
      <dgm:spPr/>
      <dgm:t>
        <a:bodyPr/>
        <a:lstStyle/>
        <a:p>
          <a:endParaRPr lang="en-US"/>
        </a:p>
      </dgm:t>
    </dgm:pt>
    <dgm:pt modelId="{1342FD5B-DF10-4FA8-B702-BEA15DEF3847}">
      <dgm:prSet custT="1"/>
      <dgm:spPr/>
      <dgm:t>
        <a:bodyPr/>
        <a:lstStyle/>
        <a:p>
          <a:pPr rtl="0"/>
          <a:r>
            <a:rPr lang="vi-VN" sz="1600">
              <a:latin typeface="Times New Roman"/>
              <a:cs typeface="Times New Roman"/>
            </a:rPr>
            <a:t>Phù hợp với kiến trúc </a:t>
          </a:r>
          <a:r>
            <a:rPr lang="vi-VN" sz="1600" err="1">
              <a:latin typeface="Times New Roman"/>
              <a:cs typeface="Times New Roman"/>
            </a:rPr>
            <a:t>Digital</a:t>
          </a:r>
          <a:r>
            <a:rPr lang="vi-VN" sz="1600">
              <a:latin typeface="Times New Roman"/>
              <a:cs typeface="Times New Roman"/>
            </a:rPr>
            <a:t> </a:t>
          </a:r>
          <a:r>
            <a:rPr lang="vi-VN" sz="1600" err="1">
              <a:latin typeface="Times New Roman"/>
              <a:cs typeface="Times New Roman"/>
            </a:rPr>
            <a:t>Twin</a:t>
          </a:r>
          <a:endParaRPr lang="vi-VN" sz="1600">
            <a:latin typeface="Times New Roman"/>
            <a:cs typeface="Times New Roman"/>
          </a:endParaRPr>
        </a:p>
      </dgm:t>
    </dgm:pt>
    <dgm:pt modelId="{04BCA703-0BE6-4C27-8D9C-437F4C51D6A3}" type="parTrans" cxnId="{DC560C28-23B2-4F5A-826A-09A2C1814FAE}">
      <dgm:prSet/>
      <dgm:spPr/>
      <dgm:t>
        <a:bodyPr/>
        <a:lstStyle/>
        <a:p>
          <a:endParaRPr lang="en-US"/>
        </a:p>
      </dgm:t>
    </dgm:pt>
    <dgm:pt modelId="{0BAA6E55-C1CA-4E52-997D-EA6E8676B982}" type="sibTrans" cxnId="{DC560C28-23B2-4F5A-826A-09A2C1814FAE}">
      <dgm:prSet/>
      <dgm:spPr/>
      <dgm:t>
        <a:bodyPr/>
        <a:lstStyle/>
        <a:p>
          <a:endParaRPr lang="en-US"/>
        </a:p>
      </dgm:t>
    </dgm:pt>
    <dgm:pt modelId="{47C65557-B866-4BCF-B863-46B55DBC44FD}">
      <dgm:prSet custT="1"/>
      <dgm:spPr/>
      <dgm:t>
        <a:bodyPr/>
        <a:lstStyle/>
        <a:p>
          <a:pPr>
            <a:buNone/>
          </a:pPr>
          <a:r>
            <a:rPr lang="vi-VN" sz="1600">
              <a:latin typeface="Times New Roman"/>
              <a:cs typeface="Times New Roman"/>
            </a:rPr>
            <a:t>Tái tạo dữ liệu có tính ngẫu nhiên cao</a:t>
          </a:r>
          <a:endParaRPr lang="en-US" sz="1600">
            <a:latin typeface="Times New Roman"/>
            <a:cs typeface="Times New Roman"/>
          </a:endParaRPr>
        </a:p>
      </dgm:t>
    </dgm:pt>
    <dgm:pt modelId="{6FCDE439-B939-45C0-959B-DDD13B4B12EA}" type="sibTrans" cxnId="{616BE6D5-A5E9-4461-9F4C-8A130EC9410D}">
      <dgm:prSet/>
      <dgm:spPr/>
      <dgm:t>
        <a:bodyPr/>
        <a:lstStyle/>
        <a:p>
          <a:endParaRPr lang="en-US"/>
        </a:p>
      </dgm:t>
    </dgm:pt>
    <dgm:pt modelId="{E563BD26-2AD6-412B-A1BE-F75505DE4973}" type="parTrans" cxnId="{616BE6D5-A5E9-4461-9F4C-8A130EC9410D}">
      <dgm:prSet/>
      <dgm:spPr/>
      <dgm:t>
        <a:bodyPr/>
        <a:lstStyle/>
        <a:p>
          <a:endParaRPr lang="en-US"/>
        </a:p>
      </dgm:t>
    </dgm:pt>
    <dgm:pt modelId="{FC110664-141B-48F7-B4D5-043B833FFE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vi-VN" b="0" i="0" u="none">
              <a:latin typeface="Times New Roman"/>
              <a:cs typeface="Times New Roman"/>
            </a:rPr>
            <a:t>Phù hợp với các môi trường truyền phức </a:t>
          </a:r>
          <a:r>
            <a:rPr lang="vi-VN" b="0" i="0">
              <a:latin typeface="Times New Roman"/>
              <a:cs typeface="Times New Roman"/>
            </a:rPr>
            <a:t>tạp.</a:t>
          </a:r>
          <a:r>
            <a:rPr lang="en-US" b="0" i="0">
              <a:latin typeface="Times New Roman"/>
              <a:cs typeface="Times New Roman"/>
            </a:rPr>
            <a:t>​</a:t>
          </a:r>
          <a:endParaRPr lang="en-US">
            <a:latin typeface="Times New Roman"/>
            <a:cs typeface="Times New Roman"/>
          </a:endParaRPr>
        </a:p>
      </dgm:t>
    </dgm:pt>
    <dgm:pt modelId="{4042E782-F029-4FB6-8952-ADB9746D0829}" type="parTrans" cxnId="{EFB0D28E-67E2-4307-BE6D-9AFE4AAEC2AE}">
      <dgm:prSet/>
      <dgm:spPr/>
      <dgm:t>
        <a:bodyPr/>
        <a:lstStyle/>
        <a:p>
          <a:endParaRPr lang="en-US"/>
        </a:p>
      </dgm:t>
    </dgm:pt>
    <dgm:pt modelId="{6F3F6DDC-8199-4995-9E73-F48465E15416}" type="sibTrans" cxnId="{EFB0D28E-67E2-4307-BE6D-9AFE4AAEC2AE}">
      <dgm:prSet/>
      <dgm:spPr/>
      <dgm:t>
        <a:bodyPr/>
        <a:lstStyle/>
        <a:p>
          <a:endParaRPr lang="en-US"/>
        </a:p>
      </dgm:t>
    </dgm:pt>
    <dgm:pt modelId="{0ABC2A6C-A0C3-4369-927C-DD15CEC60948}" type="pres">
      <dgm:prSet presAssocID="{AFB80529-9523-4D7D-B18F-0236136FC73B}" presName="linear" presStyleCnt="0">
        <dgm:presLayoutVars>
          <dgm:animLvl val="lvl"/>
          <dgm:resizeHandles val="exact"/>
        </dgm:presLayoutVars>
      </dgm:prSet>
      <dgm:spPr/>
    </dgm:pt>
    <dgm:pt modelId="{2EB5B195-9E79-4C55-B92A-13869D9B389F}" type="pres">
      <dgm:prSet presAssocID="{1CFAD017-166F-4256-A772-0B4676C88B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50E65E-3795-4646-AA67-BB7602A92D36}" type="pres">
      <dgm:prSet presAssocID="{1CFAD017-166F-4256-A772-0B4676C88B68}" presName="childText" presStyleLbl="revTx" presStyleIdx="0" presStyleCnt="3">
        <dgm:presLayoutVars>
          <dgm:bulletEnabled val="1"/>
        </dgm:presLayoutVars>
      </dgm:prSet>
      <dgm:spPr/>
    </dgm:pt>
    <dgm:pt modelId="{4AA777D7-A082-47D1-AE5C-EA5A473DB280}" type="pres">
      <dgm:prSet presAssocID="{47C65557-B866-4BCF-B863-46B55DBC44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8FE5D5-6C63-4E31-9A19-E7EAE8757A2A}" type="pres">
      <dgm:prSet presAssocID="{47C65557-B866-4BCF-B863-46B55DBC44FD}" presName="childText" presStyleLbl="revTx" presStyleIdx="1" presStyleCnt="3">
        <dgm:presLayoutVars>
          <dgm:bulletEnabled val="1"/>
        </dgm:presLayoutVars>
      </dgm:prSet>
      <dgm:spPr/>
    </dgm:pt>
    <dgm:pt modelId="{477FD8E2-7AA0-478B-97AD-D5ECD3EF3EAB}" type="pres">
      <dgm:prSet presAssocID="{724174A2-BA8D-4A54-80D0-68F3C7DF401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214C1B-D471-497F-AF15-668370F2838E}" type="pres">
      <dgm:prSet presAssocID="{724174A2-BA8D-4A54-80D0-68F3C7DF4011}" presName="childText" presStyleLbl="revTx" presStyleIdx="2" presStyleCnt="3">
        <dgm:presLayoutVars>
          <dgm:bulletEnabled val="1"/>
        </dgm:presLayoutVars>
      </dgm:prSet>
      <dgm:spPr/>
    </dgm:pt>
    <dgm:pt modelId="{CFF48196-A7DF-42CB-9384-F3F2F9C45283}" type="pres">
      <dgm:prSet presAssocID="{1342FD5B-DF10-4FA8-B702-BEA15DEF38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610D18-2580-4D52-BDF2-6B715BE8874A}" type="presOf" srcId="{AFB80529-9523-4D7D-B18F-0236136FC73B}" destId="{0ABC2A6C-A0C3-4369-927C-DD15CEC60948}" srcOrd="0" destOrd="0" presId="urn:microsoft.com/office/officeart/2005/8/layout/vList2"/>
    <dgm:cxn modelId="{CE67EC1A-F787-4BDE-A30D-9EC4CF9057A9}" type="presOf" srcId="{724174A2-BA8D-4A54-80D0-68F3C7DF4011}" destId="{477FD8E2-7AA0-478B-97AD-D5ECD3EF3EAB}" srcOrd="0" destOrd="0" presId="urn:microsoft.com/office/officeart/2005/8/layout/vList2"/>
    <dgm:cxn modelId="{2390801F-1DE0-40BE-A9D1-2D68D74CEBBF}" srcId="{AFB80529-9523-4D7D-B18F-0236136FC73B}" destId="{1CFAD017-166F-4256-A772-0B4676C88B68}" srcOrd="0" destOrd="0" parTransId="{3068D5C0-DA49-41AD-9BA7-7AD66E749392}" sibTransId="{75301EDE-0496-494D-83A9-C680F55A9E75}"/>
    <dgm:cxn modelId="{DC560C28-23B2-4F5A-826A-09A2C1814FAE}" srcId="{AFB80529-9523-4D7D-B18F-0236136FC73B}" destId="{1342FD5B-DF10-4FA8-B702-BEA15DEF3847}" srcOrd="3" destOrd="0" parTransId="{04BCA703-0BE6-4C27-8D9C-437F4C51D6A3}" sibTransId="{0BAA6E55-C1CA-4E52-997D-EA6E8676B982}"/>
    <dgm:cxn modelId="{1F88DC29-7BF9-4CAA-85BA-187664BB4CCA}" type="presOf" srcId="{1CFAD017-166F-4256-A772-0B4676C88B68}" destId="{2EB5B195-9E79-4C55-B92A-13869D9B389F}" srcOrd="0" destOrd="0" presId="urn:microsoft.com/office/officeart/2005/8/layout/vList2"/>
    <dgm:cxn modelId="{4466ED29-8803-45B2-B90E-0880AC89B8DC}" srcId="{47C65557-B866-4BCF-B863-46B55DBC44FD}" destId="{A971D2C7-C2AE-4EFB-9AAF-A98161E7A01F}" srcOrd="0" destOrd="0" parTransId="{FB1DDA5F-3CBF-4439-B7D3-7ED2CC2CCD41}" sibTransId="{DB359A3B-FB7B-401A-A18B-04E7A44019F9}"/>
    <dgm:cxn modelId="{1C58D138-96A4-4D22-BC4C-B45E2C440A6E}" type="presOf" srcId="{C20F3DA2-ED2E-425A-A54E-4C01FE39FFBE}" destId="{6850E65E-3795-4646-AA67-BB7602A92D36}" srcOrd="0" destOrd="0" presId="urn:microsoft.com/office/officeart/2005/8/layout/vList2"/>
    <dgm:cxn modelId="{AD973A3B-1820-4366-925B-C23B672A9804}" srcId="{AFB80529-9523-4D7D-B18F-0236136FC73B}" destId="{724174A2-BA8D-4A54-80D0-68F3C7DF4011}" srcOrd="2" destOrd="0" parTransId="{68B6B59B-103B-4C33-9823-9A5B731C3783}" sibTransId="{2F1F9E20-8C4C-4428-8B9C-95C693AE6C9E}"/>
    <dgm:cxn modelId="{C3F60F61-70A2-4D57-B8C5-D0E0AA6E59E5}" type="presOf" srcId="{47C65557-B866-4BCF-B863-46B55DBC44FD}" destId="{4AA777D7-A082-47D1-AE5C-EA5A473DB280}" srcOrd="0" destOrd="0" presId="urn:microsoft.com/office/officeart/2005/8/layout/vList2"/>
    <dgm:cxn modelId="{D0C54866-2093-4512-A215-AE7F3EEAB4A5}" srcId="{1CFAD017-166F-4256-A772-0B4676C88B68}" destId="{C20F3DA2-ED2E-425A-A54E-4C01FE39FFBE}" srcOrd="0" destOrd="0" parTransId="{413615CC-8374-4E73-B9F6-A0BEEAC81C96}" sibTransId="{458C424B-72A5-45BB-89A4-CD6EF7EB9BA8}"/>
    <dgm:cxn modelId="{EFB0D28E-67E2-4307-BE6D-9AFE4AAEC2AE}" srcId="{1CFAD017-166F-4256-A772-0B4676C88B68}" destId="{FC110664-141B-48F7-B4D5-043B833FFEB7}" srcOrd="1" destOrd="0" parTransId="{4042E782-F029-4FB6-8952-ADB9746D0829}" sibTransId="{6F3F6DDC-8199-4995-9E73-F48465E15416}"/>
    <dgm:cxn modelId="{B8827C9C-815F-4895-807E-A60A0CB00CA6}" srcId="{724174A2-BA8D-4A54-80D0-68F3C7DF4011}" destId="{8E703336-BF9F-489D-A5A4-FAB1D11F012D}" srcOrd="0" destOrd="0" parTransId="{626FB630-61DF-4D41-945F-0FFBC67DBE0F}" sibTransId="{73480706-7758-4CAC-95E8-5CC90A770FAE}"/>
    <dgm:cxn modelId="{30D396B6-23DC-4A77-BBD6-DD5A34AB316E}" type="presOf" srcId="{A971D2C7-C2AE-4EFB-9AAF-A98161E7A01F}" destId="{1B8FE5D5-6C63-4E31-9A19-E7EAE8757A2A}" srcOrd="0" destOrd="0" presId="urn:microsoft.com/office/officeart/2005/8/layout/vList2"/>
    <dgm:cxn modelId="{D07039CE-1280-4877-8591-C65F1BA76AC4}" type="presOf" srcId="{FC110664-141B-48F7-B4D5-043B833FFEB7}" destId="{6850E65E-3795-4646-AA67-BB7602A92D36}" srcOrd="0" destOrd="1" presId="urn:microsoft.com/office/officeart/2005/8/layout/vList2"/>
    <dgm:cxn modelId="{8C3CF9D1-82F1-4D2B-9CA8-099FBB5A64EA}" type="presOf" srcId="{1342FD5B-DF10-4FA8-B702-BEA15DEF3847}" destId="{CFF48196-A7DF-42CB-9384-F3F2F9C45283}" srcOrd="0" destOrd="0" presId="urn:microsoft.com/office/officeart/2005/8/layout/vList2"/>
    <dgm:cxn modelId="{616BE6D5-A5E9-4461-9F4C-8A130EC9410D}" srcId="{AFB80529-9523-4D7D-B18F-0236136FC73B}" destId="{47C65557-B866-4BCF-B863-46B55DBC44FD}" srcOrd="1" destOrd="0" parTransId="{E563BD26-2AD6-412B-A1BE-F75505DE4973}" sibTransId="{6FCDE439-B939-45C0-959B-DDD13B4B12EA}"/>
    <dgm:cxn modelId="{9FB8F3D9-C61A-421B-AED3-2317DE04675C}" type="presOf" srcId="{8E703336-BF9F-489D-A5A4-FAB1D11F012D}" destId="{AF214C1B-D471-497F-AF15-668370F2838E}" srcOrd="0" destOrd="0" presId="urn:microsoft.com/office/officeart/2005/8/layout/vList2"/>
    <dgm:cxn modelId="{D160154F-BE96-4A7F-A468-306E4FB6E15B}" type="presParOf" srcId="{0ABC2A6C-A0C3-4369-927C-DD15CEC60948}" destId="{2EB5B195-9E79-4C55-B92A-13869D9B389F}" srcOrd="0" destOrd="0" presId="urn:microsoft.com/office/officeart/2005/8/layout/vList2"/>
    <dgm:cxn modelId="{4CAC3E15-DE87-4FB6-98D5-916FBD3E2813}" type="presParOf" srcId="{0ABC2A6C-A0C3-4369-927C-DD15CEC60948}" destId="{6850E65E-3795-4646-AA67-BB7602A92D36}" srcOrd="1" destOrd="0" presId="urn:microsoft.com/office/officeart/2005/8/layout/vList2"/>
    <dgm:cxn modelId="{B8117E6E-F4C3-4F9D-BD31-FEE8418670CA}" type="presParOf" srcId="{0ABC2A6C-A0C3-4369-927C-DD15CEC60948}" destId="{4AA777D7-A082-47D1-AE5C-EA5A473DB280}" srcOrd="2" destOrd="0" presId="urn:microsoft.com/office/officeart/2005/8/layout/vList2"/>
    <dgm:cxn modelId="{0EE5C36D-C3CA-4A10-9E85-04E701F3EF55}" type="presParOf" srcId="{0ABC2A6C-A0C3-4369-927C-DD15CEC60948}" destId="{1B8FE5D5-6C63-4E31-9A19-E7EAE8757A2A}" srcOrd="3" destOrd="0" presId="urn:microsoft.com/office/officeart/2005/8/layout/vList2"/>
    <dgm:cxn modelId="{24E7A1A9-3D3D-44BF-B917-B9C906E3E7FF}" type="presParOf" srcId="{0ABC2A6C-A0C3-4369-927C-DD15CEC60948}" destId="{477FD8E2-7AA0-478B-97AD-D5ECD3EF3EAB}" srcOrd="4" destOrd="0" presId="urn:microsoft.com/office/officeart/2005/8/layout/vList2"/>
    <dgm:cxn modelId="{B04DF104-8526-41EC-A5EA-F443B3CD8460}" type="presParOf" srcId="{0ABC2A6C-A0C3-4369-927C-DD15CEC60948}" destId="{AF214C1B-D471-497F-AF15-668370F2838E}" srcOrd="5" destOrd="0" presId="urn:microsoft.com/office/officeart/2005/8/layout/vList2"/>
    <dgm:cxn modelId="{0D2B2524-81EC-4B83-BC6C-D267769CEF14}" type="presParOf" srcId="{0ABC2A6C-A0C3-4369-927C-DD15CEC60948}" destId="{CFF48196-A7DF-42CB-9384-F3F2F9C452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5B195-9E79-4C55-B92A-13869D9B389F}">
      <dsp:nvSpPr>
        <dsp:cNvPr id="0" name=""/>
        <dsp:cNvSpPr/>
      </dsp:nvSpPr>
      <dsp:spPr>
        <a:xfrm>
          <a:off x="0" y="89670"/>
          <a:ext cx="6017950" cy="524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u="none" kern="1200" err="1">
              <a:solidFill>
                <a:schemeClr val="bg1"/>
              </a:solidFill>
              <a:latin typeface="Times New Roman"/>
              <a:ea typeface="Lato"/>
              <a:cs typeface="Lato"/>
            </a:rPr>
            <a:t>Không</a:t>
          </a:r>
          <a:r>
            <a:rPr lang="en-US" sz="1600" b="0" i="0" u="none" kern="1200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kern="1200" err="1">
              <a:solidFill>
                <a:schemeClr val="bg1"/>
              </a:solidFill>
              <a:latin typeface="Times New Roman"/>
              <a:ea typeface="Lato"/>
              <a:cs typeface="Lato"/>
            </a:rPr>
            <a:t>phụ</a:t>
          </a:r>
          <a:r>
            <a:rPr lang="en-US" sz="1600" b="0" i="0" u="none" kern="1200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kern="1200" err="1">
              <a:solidFill>
                <a:schemeClr val="bg1"/>
              </a:solidFill>
              <a:latin typeface="Times New Roman"/>
              <a:ea typeface="Lato"/>
              <a:cs typeface="Lato"/>
            </a:rPr>
            <a:t>thuộc</a:t>
          </a:r>
          <a:r>
            <a:rPr lang="en-US" sz="1600" b="0" i="0" u="none" kern="1200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kern="1200" err="1">
              <a:solidFill>
                <a:schemeClr val="bg1"/>
              </a:solidFill>
              <a:latin typeface="Times New Roman"/>
              <a:ea typeface="Lato"/>
              <a:cs typeface="Lato"/>
            </a:rPr>
            <a:t>vào</a:t>
          </a:r>
          <a:r>
            <a:rPr lang="en-US" sz="1600" b="0" i="0" u="none" kern="1200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kern="1200" err="1">
              <a:solidFill>
                <a:schemeClr val="bg1"/>
              </a:solidFill>
              <a:latin typeface="Times New Roman"/>
              <a:ea typeface="Lato"/>
              <a:cs typeface="Lato"/>
            </a:rPr>
            <a:t>mô</a:t>
          </a:r>
          <a:r>
            <a:rPr lang="en-US" sz="1600" b="0" i="0" u="none" kern="1200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kern="1200" err="1">
              <a:solidFill>
                <a:schemeClr val="bg1"/>
              </a:solidFill>
              <a:latin typeface="Times New Roman"/>
              <a:ea typeface="Lato"/>
              <a:cs typeface="Lato"/>
            </a:rPr>
            <a:t>hình</a:t>
          </a:r>
          <a:r>
            <a:rPr lang="en-US" sz="1600" b="0" i="0" u="none" kern="1200">
              <a:solidFill>
                <a:schemeClr val="bg1"/>
              </a:solidFill>
              <a:latin typeface="Times New Roman"/>
              <a:ea typeface="Lato"/>
              <a:cs typeface="Lato"/>
            </a:rPr>
            <a:t> </a:t>
          </a:r>
          <a:r>
            <a:rPr lang="en-US" sz="1600" b="0" i="0" u="none" kern="1200" err="1">
              <a:solidFill>
                <a:schemeClr val="bg1"/>
              </a:solidFill>
              <a:latin typeface="Times New Roman"/>
              <a:ea typeface="Lato"/>
              <a:cs typeface="Lato"/>
            </a:rPr>
            <a:t>tiên</a:t>
          </a:r>
          <a:r>
            <a:rPr lang="vi-VN" sz="1600" b="0" i="0" u="none" kern="1200">
              <a:solidFill>
                <a:schemeClr val="bg1"/>
              </a:solidFill>
              <a:latin typeface="Times New Roman"/>
              <a:ea typeface="Lato"/>
              <a:cs typeface="Lato"/>
            </a:rPr>
            <a:t> nghiệm</a:t>
          </a:r>
          <a:endParaRPr lang="en-US" sz="1600" b="0" kern="1200">
            <a:solidFill>
              <a:schemeClr val="bg1"/>
            </a:solidFill>
            <a:latin typeface="Times New Roman"/>
            <a:ea typeface="Lato"/>
            <a:cs typeface="Lato"/>
          </a:endParaRPr>
        </a:p>
      </dsp:txBody>
      <dsp:txXfrm>
        <a:off x="25587" y="115257"/>
        <a:ext cx="5966776" cy="472986"/>
      </dsp:txXfrm>
    </dsp:sp>
    <dsp:sp modelId="{6850E65E-3795-4646-AA67-BB7602A92D36}">
      <dsp:nvSpPr>
        <dsp:cNvPr id="0" name=""/>
        <dsp:cNvSpPr/>
      </dsp:nvSpPr>
      <dsp:spPr>
        <a:xfrm>
          <a:off x="0" y="613830"/>
          <a:ext cx="6017950" cy="1275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0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vi-VN" sz="2200" b="0" i="0" u="none" kern="1200">
              <a:latin typeface="Times New Roman"/>
              <a:cs typeface="Times New Roman"/>
            </a:rPr>
            <a:t>GAN không yêu cầu giả định trước về phân phối dữ liệu đầu vào hoặc công thức mô hình hóa kênh.</a:t>
          </a:r>
          <a:r>
            <a:rPr lang="en-US" sz="2200" b="0" i="0" kern="1200">
              <a:latin typeface="Times New Roman"/>
              <a:cs typeface="Times New Roman"/>
            </a:rPr>
            <a:t>​</a:t>
          </a:r>
          <a:endParaRPr lang="en-US" sz="2200" kern="1200">
            <a:latin typeface="Times New Roman"/>
            <a:cs typeface="Times New Roman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vi-VN" sz="2200" b="0" i="0" u="none" kern="1200">
              <a:latin typeface="Times New Roman"/>
              <a:cs typeface="Times New Roman"/>
            </a:rPr>
            <a:t>Phù hợp với các môi trường truyền phức </a:t>
          </a:r>
          <a:r>
            <a:rPr lang="vi-VN" sz="2200" b="0" i="0" kern="1200">
              <a:latin typeface="Times New Roman"/>
              <a:cs typeface="Times New Roman"/>
            </a:rPr>
            <a:t>tạp.</a:t>
          </a:r>
          <a:r>
            <a:rPr lang="en-US" sz="2200" b="0" i="0" kern="1200">
              <a:latin typeface="Times New Roman"/>
              <a:cs typeface="Times New Roman"/>
            </a:rPr>
            <a:t>​</a:t>
          </a:r>
          <a:endParaRPr lang="en-US" sz="2200" kern="1200">
            <a:latin typeface="Times New Roman"/>
            <a:cs typeface="Times New Roman"/>
          </a:endParaRPr>
        </a:p>
      </dsp:txBody>
      <dsp:txXfrm>
        <a:off x="0" y="613830"/>
        <a:ext cx="6017950" cy="1275120"/>
      </dsp:txXfrm>
    </dsp:sp>
    <dsp:sp modelId="{4AA777D7-A082-47D1-AE5C-EA5A473DB280}">
      <dsp:nvSpPr>
        <dsp:cNvPr id="0" name=""/>
        <dsp:cNvSpPr/>
      </dsp:nvSpPr>
      <dsp:spPr>
        <a:xfrm>
          <a:off x="0" y="1888950"/>
          <a:ext cx="6017950" cy="52416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600" kern="1200">
              <a:latin typeface="Times New Roman"/>
              <a:cs typeface="Times New Roman"/>
            </a:rPr>
            <a:t>Tái tạo dữ liệu có tính ngẫu nhiên cao</a:t>
          </a:r>
          <a:endParaRPr lang="en-US" sz="1600" kern="1200">
            <a:latin typeface="Times New Roman"/>
            <a:cs typeface="Times New Roman"/>
          </a:endParaRPr>
        </a:p>
      </dsp:txBody>
      <dsp:txXfrm>
        <a:off x="25587" y="1914537"/>
        <a:ext cx="5966776" cy="472986"/>
      </dsp:txXfrm>
    </dsp:sp>
    <dsp:sp modelId="{1B8FE5D5-6C63-4E31-9A19-E7EAE8757A2A}">
      <dsp:nvSpPr>
        <dsp:cNvPr id="0" name=""/>
        <dsp:cNvSpPr/>
      </dsp:nvSpPr>
      <dsp:spPr>
        <a:xfrm>
          <a:off x="0" y="2413110"/>
          <a:ext cx="6017950" cy="637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0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vi-VN" sz="2200" b="0" i="0" u="none" kern="1200">
              <a:latin typeface="Times New Roman"/>
              <a:cs typeface="Times New Roman"/>
            </a:rPr>
            <a:t>GAN có khả năng học và sinh ra dữ liệu có đặc trưng thống kê giống dữ liệu đo thực tế</a:t>
          </a:r>
          <a:r>
            <a:rPr lang="vi-VN" sz="2200" kern="1200">
              <a:latin typeface="Times New Roman"/>
              <a:cs typeface="Times New Roman"/>
            </a:rPr>
            <a:t>.</a:t>
          </a:r>
          <a:endParaRPr lang="en-US" sz="2200" kern="1200">
            <a:latin typeface="Times New Roman"/>
            <a:cs typeface="Times New Roman"/>
          </a:endParaRPr>
        </a:p>
      </dsp:txBody>
      <dsp:txXfrm>
        <a:off x="0" y="2413110"/>
        <a:ext cx="6017950" cy="637560"/>
      </dsp:txXfrm>
    </dsp:sp>
    <dsp:sp modelId="{477FD8E2-7AA0-478B-97AD-D5ECD3EF3EAB}">
      <dsp:nvSpPr>
        <dsp:cNvPr id="0" name=""/>
        <dsp:cNvSpPr/>
      </dsp:nvSpPr>
      <dsp:spPr>
        <a:xfrm>
          <a:off x="0" y="3050670"/>
          <a:ext cx="6017950" cy="52416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600" kern="1200">
              <a:latin typeface="Times New Roman"/>
              <a:cs typeface="Times New Roman"/>
            </a:rPr>
            <a:t>Sinh dữ liệu có độ chính xác cao với số lượng lớn</a:t>
          </a:r>
          <a:endParaRPr lang="en-US" sz="1600" kern="1200">
            <a:latin typeface="Times New Roman"/>
            <a:cs typeface="Times New Roman"/>
          </a:endParaRPr>
        </a:p>
      </dsp:txBody>
      <dsp:txXfrm>
        <a:off x="25587" y="3076257"/>
        <a:ext cx="5966776" cy="472986"/>
      </dsp:txXfrm>
    </dsp:sp>
    <dsp:sp modelId="{AF214C1B-D471-497F-AF15-668370F2838E}">
      <dsp:nvSpPr>
        <dsp:cNvPr id="0" name=""/>
        <dsp:cNvSpPr/>
      </dsp:nvSpPr>
      <dsp:spPr>
        <a:xfrm>
          <a:off x="0" y="3574830"/>
          <a:ext cx="6017950" cy="912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0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vi-VN" sz="2200" b="0" i="0" u="none" kern="1200">
              <a:latin typeface="Times New Roman"/>
              <a:cs typeface="Times New Roman"/>
            </a:rPr>
            <a:t>Sau khi được huấn luyện, GAN có thể sinh ra vô số mẫu kênh truyền có phân phối tương tự dữ liệu thật.</a:t>
          </a:r>
          <a:endParaRPr lang="en-US" sz="2200" kern="1200">
            <a:latin typeface="Times New Roman"/>
            <a:cs typeface="Times New Roman"/>
          </a:endParaRPr>
        </a:p>
      </dsp:txBody>
      <dsp:txXfrm>
        <a:off x="0" y="3574830"/>
        <a:ext cx="6017950" cy="912870"/>
      </dsp:txXfrm>
    </dsp:sp>
    <dsp:sp modelId="{CFF48196-A7DF-42CB-9384-F3F2F9C45283}">
      <dsp:nvSpPr>
        <dsp:cNvPr id="0" name=""/>
        <dsp:cNvSpPr/>
      </dsp:nvSpPr>
      <dsp:spPr>
        <a:xfrm>
          <a:off x="0" y="4487700"/>
          <a:ext cx="6017950" cy="52416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600" kern="1200">
              <a:latin typeface="Times New Roman"/>
              <a:cs typeface="Times New Roman"/>
            </a:rPr>
            <a:t>Phù hợp với kiến trúc </a:t>
          </a:r>
          <a:r>
            <a:rPr lang="vi-VN" sz="1600" kern="1200" err="1">
              <a:latin typeface="Times New Roman"/>
              <a:cs typeface="Times New Roman"/>
            </a:rPr>
            <a:t>Digital</a:t>
          </a:r>
          <a:r>
            <a:rPr lang="vi-VN" sz="1600" kern="1200">
              <a:latin typeface="Times New Roman"/>
              <a:cs typeface="Times New Roman"/>
            </a:rPr>
            <a:t> </a:t>
          </a:r>
          <a:r>
            <a:rPr lang="vi-VN" sz="1600" kern="1200" err="1">
              <a:latin typeface="Times New Roman"/>
              <a:cs typeface="Times New Roman"/>
            </a:rPr>
            <a:t>Twin</a:t>
          </a:r>
          <a:endParaRPr lang="vi-VN" sz="1600" kern="1200">
            <a:latin typeface="Times New Roman"/>
            <a:cs typeface="Times New Roman"/>
          </a:endParaRPr>
        </a:p>
      </dsp:txBody>
      <dsp:txXfrm>
        <a:off x="25587" y="4513287"/>
        <a:ext cx="5966776" cy="472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Hình 2.7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WGAN-GP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SISO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Channel Impulse Response (CIRs). Mô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Generator </a:t>
            </a:r>
            <a:r>
              <a:rPr lang="en-US" dirty="0" err="1"/>
              <a:t>và</a:t>
            </a:r>
            <a:r>
              <a:rPr lang="en-US" dirty="0"/>
              <a:t> Critic. Trong </a:t>
            </a:r>
            <a:r>
              <a:rPr lang="en-US" dirty="0" err="1"/>
              <a:t>đó</a:t>
            </a:r>
            <a:r>
              <a:rPr lang="en-US" dirty="0"/>
              <a:t>, Generator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vector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(latent vector),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ReLU,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Tanh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Fake CIRs.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Critic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CIRs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(Measured CIRs). Critic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neural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Linear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LeakyReLU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"</a:t>
            </a:r>
            <a:r>
              <a:rPr lang="en-US" dirty="0" err="1"/>
              <a:t>thật</a:t>
            </a:r>
            <a:r>
              <a:rPr lang="en-US" dirty="0"/>
              <a:t>"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.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GAN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, WGAN-GP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sigmoid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Discriminator </a:t>
            </a:r>
            <a:r>
              <a:rPr lang="en-US" dirty="0" err="1"/>
              <a:t>bằng</a:t>
            </a:r>
            <a:r>
              <a:rPr lang="en-US" dirty="0"/>
              <a:t> Critic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Wasserstein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. Critic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: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phạt</a:t>
            </a:r>
            <a:r>
              <a:rPr lang="en-US" dirty="0"/>
              <a:t> Gradient Penalty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Critic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1,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Critic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Lipschitz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. Sau </a:t>
            </a:r>
            <a:r>
              <a:rPr lang="en-US" dirty="0" err="1"/>
              <a:t>khi</a:t>
            </a:r>
            <a:r>
              <a:rPr lang="en-US" dirty="0"/>
              <a:t> Critic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Generator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Critic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.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Generator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CIRs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WGAN-GP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kể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GAN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42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WGAN-GP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SISO, </a:t>
            </a:r>
            <a:r>
              <a:rPr lang="en-US" dirty="0" err="1"/>
              <a:t>hình</a:t>
            </a:r>
            <a:r>
              <a:rPr lang="en-US" dirty="0"/>
              <a:t> 2.8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WGAN-GP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MIMO.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Generator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Critic</a:t>
            </a:r>
            <a:r>
              <a:rPr lang="en-US" dirty="0"/>
              <a:t>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Wasserstein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b="1" dirty="0"/>
              <a:t>Gradient Penalty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ở SISO. Tuy </a:t>
            </a:r>
            <a:r>
              <a:rPr lang="en-US" dirty="0" err="1"/>
              <a:t>nhiên</a:t>
            </a:r>
            <a:r>
              <a:rPr lang="en-US" dirty="0"/>
              <a:t>, do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MIMO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giàu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  <a:endParaRPr lang="vi-VN" dirty="0"/>
          </a:p>
          <a:p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</a:t>
            </a:r>
            <a:r>
              <a:rPr lang="en-US" b="1" dirty="0"/>
              <a:t>Generator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latent vector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Dense, Batch Normalization, </a:t>
            </a:r>
            <a:r>
              <a:rPr lang="en-US" dirty="0" err="1"/>
              <a:t>LeakyReLU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reshape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qua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b="1" dirty="0"/>
              <a:t>Conv2DTranspose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MIMO.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b="1" dirty="0"/>
              <a:t>Fake CIRs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MIMO.</a:t>
            </a:r>
            <a:endParaRPr lang="vi-VN" dirty="0"/>
          </a:p>
          <a:p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b="1" dirty="0"/>
              <a:t>Critic</a:t>
            </a:r>
            <a:r>
              <a:rPr lang="en-US" dirty="0"/>
              <a:t>,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(Measured CIRs)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b="1" dirty="0"/>
              <a:t>Conv2D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flatten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Dense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.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Critic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Wasserstein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Gradient Penalty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Lipschitz.</a:t>
            </a:r>
            <a:endParaRPr lang="vi-VN" dirty="0"/>
          </a:p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SISO,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WGAN-GP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MIMO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anten</a:t>
            </a:r>
            <a:r>
              <a:rPr lang="en-US" dirty="0"/>
              <a:t>,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MIMO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  <a:endParaRPr lang="vi-VN" dirty="0"/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8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MIMO-OFDM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LDPC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.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(User Tx),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qua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hóa</a:t>
            </a:r>
            <a:r>
              <a:rPr lang="en-US" b="1" dirty="0"/>
              <a:t> LDPC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chống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qua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b="1" dirty="0"/>
              <a:t>QAM Modulation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chòm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.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b="1" dirty="0"/>
              <a:t>SFBC Coder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–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qua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anten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.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qua </a:t>
            </a:r>
            <a:r>
              <a:rPr lang="en-US" b="1" dirty="0"/>
              <a:t>OFDM/OCDM Modulation</a:t>
            </a:r>
            <a:r>
              <a:rPr lang="en-US" dirty="0"/>
              <a:t>,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qua </a:t>
            </a:r>
            <a:r>
              <a:rPr lang="en-US" dirty="0" err="1"/>
              <a:t>kênh</a:t>
            </a:r>
            <a:r>
              <a:rPr lang="en-US" dirty="0"/>
              <a:t>.</a:t>
            </a:r>
            <a:endParaRPr lang="vi-VN" dirty="0"/>
          </a:p>
          <a:p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(User Rx),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anten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OFDM/OCDM,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b="1" dirty="0"/>
              <a:t>MMSE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méo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.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qua </a:t>
            </a:r>
            <a:r>
              <a:rPr lang="en-US" b="1" dirty="0"/>
              <a:t>SFBC Decoder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QAM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mã</a:t>
            </a:r>
            <a:r>
              <a:rPr lang="en-US" b="1" dirty="0"/>
              <a:t> LDPC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.</a:t>
            </a:r>
            <a:endParaRPr lang="vi-VN" dirty="0"/>
          </a:p>
          <a:p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b="1" dirty="0"/>
              <a:t>LDPC coding</a:t>
            </a:r>
            <a:r>
              <a:rPr lang="en-US" dirty="0"/>
              <a:t>, </a:t>
            </a:r>
            <a:r>
              <a:rPr lang="en-US" b="1" dirty="0"/>
              <a:t>MIMO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OFDM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tin </a:t>
            </a:r>
            <a:r>
              <a:rPr lang="en-US" dirty="0" err="1"/>
              <a:t>cậy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fading.</a:t>
            </a:r>
            <a:endParaRPr lang="vi-VN" dirty="0"/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56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Hình 4.1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b="1" dirty="0"/>
              <a:t>Power Delay Profile (PDP)</a:t>
            </a:r>
            <a:r>
              <a:rPr lang="en-US" dirty="0"/>
              <a:t> –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SISO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OFDM.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(Real Data)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WGAN-GP</a:t>
            </a:r>
            <a:r>
              <a:rPr lang="en-US" dirty="0"/>
              <a:t>, </a:t>
            </a:r>
            <a:r>
              <a:rPr lang="en-US" b="1" dirty="0"/>
              <a:t>VAE-GAN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GAN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thường</a:t>
            </a:r>
            <a:r>
              <a:rPr lang="en-US" dirty="0"/>
              <a:t>.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xu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. Tuy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b="1" dirty="0"/>
              <a:t>WGAN-GP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mượt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–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dao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. Trong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GAN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dao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ở </a:t>
            </a:r>
            <a:r>
              <a:rPr lang="en-US" dirty="0" err="1"/>
              <a:t>các</a:t>
            </a:r>
            <a:r>
              <a:rPr lang="en-US" dirty="0"/>
              <a:t> tap </a:t>
            </a:r>
            <a:r>
              <a:rPr lang="en-US" dirty="0" err="1"/>
              <a:t>trễ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WGAN-GP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dây</a:t>
            </a:r>
            <a:r>
              <a:rPr lang="en-US" dirty="0"/>
              <a:t>.</a:t>
            </a:r>
            <a:endParaRPr lang="vi-VN" dirty="0"/>
          </a:p>
          <a:p>
            <a:r>
              <a:rPr lang="en-US" dirty="0" err="1"/>
              <a:t>Hỏi</a:t>
            </a:r>
            <a:r>
              <a:rPr lang="en-US" dirty="0"/>
              <a:t> ChatGPT</a:t>
            </a:r>
            <a:endParaRPr lang="vi-VN" dirty="0"/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52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: </a:t>
            </a:r>
            <a:r>
              <a:rPr lang="en-US" b="1" dirty="0"/>
              <a:t>PDF –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mật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suất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CDF –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phối</a:t>
            </a:r>
            <a:r>
              <a:rPr lang="en-US" b="1" dirty="0"/>
              <a:t> </a:t>
            </a:r>
            <a:r>
              <a:rPr lang="en-US" b="1" dirty="0" err="1"/>
              <a:t>tích</a:t>
            </a:r>
            <a:r>
              <a:rPr lang="en-US" b="1" dirty="0"/>
              <a:t> </a:t>
            </a:r>
            <a:r>
              <a:rPr lang="en-US" b="1" dirty="0" err="1"/>
              <a:t>lũy</a:t>
            </a:r>
            <a:r>
              <a:rPr lang="en-US" dirty="0"/>
              <a:t>.</a:t>
            </a:r>
            <a:endParaRPr lang="vi-VN"/>
          </a:p>
          <a:p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, ở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b="1" dirty="0"/>
              <a:t>PDF (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)</a:t>
            </a:r>
            <a:r>
              <a:rPr lang="en-US" dirty="0"/>
              <a:t>, ta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đỏ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WGAN-GP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hẹp</a:t>
            </a:r>
            <a:r>
              <a:rPr lang="en-US" dirty="0"/>
              <a:t>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WGAN-GP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khá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. Trong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VAE-GAN (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xanh</a:t>
            </a:r>
            <a:r>
              <a:rPr lang="en-US" dirty="0"/>
              <a:t> lam)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,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bám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. Mô </a:t>
            </a:r>
            <a:r>
              <a:rPr lang="en-US" dirty="0" err="1"/>
              <a:t>hình</a:t>
            </a:r>
            <a:r>
              <a:rPr lang="en-US" dirty="0"/>
              <a:t> GAN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(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xanh</a:t>
            </a:r>
            <a:r>
              <a:rPr lang="en-US" dirty="0"/>
              <a:t> </a:t>
            </a:r>
            <a:r>
              <a:rPr lang="en-US" dirty="0" err="1"/>
              <a:t>lục</a:t>
            </a:r>
            <a:r>
              <a:rPr lang="en-US" dirty="0"/>
              <a:t>)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hẳn</a:t>
            </a:r>
            <a:r>
              <a:rPr lang="en-US" dirty="0"/>
              <a:t>,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,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kém</a:t>
            </a:r>
            <a:r>
              <a:rPr lang="en-US" dirty="0"/>
              <a:t>.</a:t>
            </a:r>
            <a:endParaRPr lang="vi-VN"/>
          </a:p>
          <a:p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, ở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b="1" dirty="0"/>
              <a:t>CDF (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dưới</a:t>
            </a:r>
            <a:r>
              <a:rPr lang="en-US" b="1" dirty="0"/>
              <a:t>)</a:t>
            </a:r>
            <a:r>
              <a:rPr lang="en-US" dirty="0"/>
              <a:t>, ta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WGAN-GP (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xanh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, </a:t>
            </a:r>
            <a:r>
              <a:rPr lang="en-US" dirty="0" err="1"/>
              <a:t>nét</a:t>
            </a:r>
            <a:r>
              <a:rPr lang="en-US" dirty="0"/>
              <a:t> </a:t>
            </a:r>
            <a:r>
              <a:rPr lang="en-US" dirty="0" err="1"/>
              <a:t>đứt</a:t>
            </a:r>
            <a:r>
              <a:rPr lang="en-US" dirty="0"/>
              <a:t>) </a:t>
            </a:r>
            <a:r>
              <a:rPr lang="en-US" dirty="0" err="1"/>
              <a:t>tiệm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CDF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(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đen</a:t>
            </a:r>
            <a:r>
              <a:rPr lang="en-US" dirty="0"/>
              <a:t> </a:t>
            </a:r>
            <a:r>
              <a:rPr lang="en-US" dirty="0" err="1"/>
              <a:t>liền</a:t>
            </a:r>
            <a:r>
              <a:rPr lang="en-US" dirty="0"/>
              <a:t>),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. VAE-GAN (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tím</a:t>
            </a:r>
            <a:r>
              <a:rPr lang="en-US" dirty="0"/>
              <a:t>, </a:t>
            </a:r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gạch</a:t>
            </a:r>
            <a:r>
              <a:rPr lang="en-US" dirty="0"/>
              <a:t>) </a:t>
            </a:r>
            <a:r>
              <a:rPr lang="en-US" dirty="0" err="1"/>
              <a:t>nằm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GAN (</a:t>
            </a:r>
            <a:r>
              <a:rPr lang="en-US" dirty="0" err="1"/>
              <a:t>màu</a:t>
            </a:r>
            <a:r>
              <a:rPr lang="en-US" dirty="0"/>
              <a:t> cam, </a:t>
            </a:r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đứt</a:t>
            </a:r>
            <a:r>
              <a:rPr lang="en-US" dirty="0"/>
              <a:t>)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rệt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–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,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.</a:t>
            </a:r>
            <a:endParaRPr lang="vi-VN" dirty="0"/>
          </a:p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WGAN-GP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trội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,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lũy</a:t>
            </a:r>
            <a:r>
              <a:rPr lang="en-US" dirty="0"/>
              <a:t>,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khẳng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SISO.</a:t>
            </a:r>
            <a:endParaRPr lang="vi-VN" dirty="0"/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79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39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WGAN-GP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–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ở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(SNR </a:t>
            </a:r>
            <a:r>
              <a:rPr lang="en-US" dirty="0" err="1"/>
              <a:t>cao</a:t>
            </a:r>
            <a:r>
              <a:rPr lang="en-US" dirty="0"/>
              <a:t>).</a:t>
            </a:r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4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2B84B665-50F6-4F83-8DF2-2BA82EBC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809E-EFD7-42B0-80FD-83F790E6BCA7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95E18DB1-1109-7179-B9C8-532292C5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FCA2CB2-C90E-368D-15AA-4870ECD8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C67B-33E4-45C4-9B4D-5B1F7C6FF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9" r:id="rId8"/>
    <p:sldLayoutId id="2147483680" r:id="rId9"/>
    <p:sldLayoutId id="2147483681" r:id="rId10"/>
    <p:sldLayoutId id="2147483682" r:id="rId11"/>
    <p:sldLayoutId id="2147483678" r:id="rId12"/>
    <p:sldLayoutId id="214748368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uu.name.vn/generative-adversarial-networks-gan/" TargetMode="External"/><Relationship Id="rId2" Type="http://schemas.openxmlformats.org/officeDocument/2006/relationships/hyperlink" Target="https://kjhov195.github.io/2020-03-09-generative_adversarial_network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@vg498660/wasserstein-gan-with-gradient-penalty-wgan-gp-0892a51ea196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Hung.nm213943@sis.hust.edu.vn" TargetMode="External"/><Relationship Id="rId2" Type="http://schemas.openxmlformats.org/officeDocument/2006/relationships/hyperlink" Target="mailto:Trang.dtk210854@sis.hust.edu.vn" TargetMode="Externa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1186245" y="1967001"/>
            <a:ext cx="7342482" cy="8487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4400">
                <a:latin typeface="Times New Roman"/>
                <a:ea typeface="Lato"/>
                <a:cs typeface="Lato"/>
              </a:rPr>
              <a:t>ĐỒ ÁN TỐT NGHIỆP</a:t>
            </a:r>
            <a:endParaRPr lang="en-US" sz="4400">
              <a:latin typeface="Times New Roman"/>
              <a:ea typeface="Lato"/>
              <a:cs typeface="Lato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2115" y="2636049"/>
            <a:ext cx="8012117" cy="15025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ctr"/>
            <a:r>
              <a:rPr lang="en-US" sz="2800">
                <a:latin typeface="Times New Roman"/>
                <a:ea typeface="Lato"/>
                <a:cs typeface="Lato"/>
              </a:rPr>
              <a:t>MÔ HÌNH KÊNH SONG SINH KỸ THUẬT SỐ CHO MẠNG 5G MIMO-OFDM SỬ DỤNG MẠNG ĐỐI NGHỊCH TẠO SINH</a:t>
            </a:r>
          </a:p>
          <a:p>
            <a:pPr algn="ctr"/>
            <a:endParaRPr lang="en-US" sz="2800" b="0">
              <a:latin typeface="Times New Roman"/>
            </a:endParaRPr>
          </a:p>
          <a:p>
            <a:pPr algn="ctr"/>
            <a:endParaRPr lang="en-US" sz="2800" b="0">
              <a:latin typeface="Times New Roman"/>
            </a:endParaRPr>
          </a:p>
          <a:p>
            <a:pPr algn="ctr"/>
            <a:endParaRPr lang="en-US" sz="2800" b="0">
              <a:latin typeface="Times New Roman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78E6987-217F-2BE5-F302-35B43B61E2DB}"/>
              </a:ext>
            </a:extLst>
          </p:cNvPr>
          <p:cNvSpPr txBox="1"/>
          <p:nvPr/>
        </p:nvSpPr>
        <p:spPr>
          <a:xfrm>
            <a:off x="218482" y="4131480"/>
            <a:ext cx="698999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00">
                <a:solidFill>
                  <a:srgbClr val="C00000"/>
                </a:solidFill>
                <a:latin typeface="Times New Roman"/>
                <a:cs typeface="Arial"/>
              </a:rPr>
              <a:t>Sinh viên thực hiện:      Đào Thị Kim Trang -  20210854</a:t>
            </a:r>
            <a:endParaRPr lang="vi-VN" sz="2200">
              <a:solidFill>
                <a:srgbClr val="C00000"/>
              </a:solidFill>
              <a:latin typeface="Times New Roman"/>
              <a:cs typeface="Arial" panose="020B0604020202020204" pitchFamily="34" charset="0"/>
            </a:endParaRPr>
          </a:p>
          <a:p>
            <a:r>
              <a:rPr lang="vi-VN" sz="2200">
                <a:solidFill>
                  <a:srgbClr val="C00000"/>
                </a:solidFill>
                <a:latin typeface="Times New Roman"/>
                <a:cs typeface="Arial"/>
              </a:rPr>
              <a:t>                                      Nguyễn Mạnh Hùng -  20213943</a:t>
            </a:r>
          </a:p>
          <a:p>
            <a:r>
              <a:rPr lang="vi-VN" sz="2200">
                <a:solidFill>
                  <a:srgbClr val="C00000"/>
                </a:solidFill>
                <a:latin typeface="Times New Roman"/>
                <a:cs typeface="Arial"/>
              </a:rPr>
              <a:t>GVHD:                        </a:t>
            </a:r>
            <a:r>
              <a:rPr lang="vi-VN" sz="2200" b="1">
                <a:solidFill>
                  <a:srgbClr val="C00000"/>
                </a:solidFill>
                <a:latin typeface="Times New Roman"/>
                <a:cs typeface="Arial"/>
              </a:rPr>
              <a:t> TS. Nguyễn Thu Nga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52912" y="232413"/>
            <a:ext cx="8674100" cy="45085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vi-VN" sz="3600" b="1">
                <a:latin typeface="Times New Roman"/>
                <a:ea typeface="Lato"/>
                <a:cs typeface="Lato"/>
              </a:rPr>
              <a:t>Nội dung</a:t>
            </a:r>
            <a:endParaRPr lang="en-US" sz="3600" b="1">
              <a:latin typeface="Times New Roman"/>
              <a:ea typeface="Lato"/>
              <a:cs typeface="Lato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452913" y="1131330"/>
            <a:ext cx="5689866" cy="230047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b="1">
                <a:latin typeface="Times New Roman"/>
                <a:ea typeface="Lato"/>
                <a:cs typeface="Lato"/>
              </a:rPr>
              <a:t>Chương 1: Đặt vấn đề</a:t>
            </a:r>
            <a:endParaRPr lang="vi-VN" sz="2400" b="1">
              <a:latin typeface="Times New Roman"/>
            </a:endParaRPr>
          </a:p>
          <a:p>
            <a:pPr marL="0" indent="0">
              <a:buNone/>
            </a:pPr>
            <a:r>
              <a:rPr lang="vi-VN" sz="2400" b="1">
                <a:latin typeface="Times New Roman"/>
                <a:ea typeface="Lato"/>
                <a:cs typeface="Lato"/>
              </a:rPr>
              <a:t>Chương 2: Cơ sở lý thuyết</a:t>
            </a:r>
          </a:p>
          <a:p>
            <a:pPr marL="0" indent="0">
              <a:buNone/>
            </a:pPr>
            <a:r>
              <a:rPr lang="vi-VN" sz="2400" b="1">
                <a:latin typeface="Times New Roman"/>
                <a:ea typeface="Lato"/>
                <a:cs typeface="Lato"/>
              </a:rPr>
              <a:t>Chương 3: Thiết kế và triển khai hệ thống</a:t>
            </a:r>
          </a:p>
          <a:p>
            <a:pPr marL="0" indent="0">
              <a:buNone/>
            </a:pPr>
            <a:r>
              <a:rPr lang="vi-VN" sz="2400" b="1">
                <a:latin typeface="Times New Roman"/>
                <a:ea typeface="Lato"/>
                <a:cs typeface="Lato"/>
              </a:rPr>
              <a:t>Chương 4: Kết quả và đánh giá</a:t>
            </a:r>
          </a:p>
          <a:p>
            <a:pPr marL="0" indent="0">
              <a:buNone/>
            </a:pPr>
            <a:r>
              <a:rPr lang="vi-VN" sz="2400" b="1">
                <a:latin typeface="Times New Roman"/>
                <a:ea typeface="Lato"/>
                <a:cs typeface="Lato"/>
              </a:rPr>
              <a:t>Chương 5: Kết luận, hướng phát triển</a:t>
            </a:r>
          </a:p>
          <a:p>
            <a:pPr marL="0" indent="0">
              <a:buNone/>
            </a:pPr>
            <a:endParaRPr lang="en-US" sz="2400" b="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4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Tiêu đề 5">
            <a:extLst>
              <a:ext uri="{FF2B5EF4-FFF2-40B4-BE49-F238E27FC236}">
                <a16:creationId xmlns:a16="http://schemas.microsoft.com/office/drawing/2014/main" id="{7D72127D-F672-E94F-A024-45BB4311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Lato"/>
              </a:rPr>
              <a:t>Chương 1: Đặt vấn đề</a:t>
            </a:r>
            <a:endParaRPr lang="en-US">
              <a:latin typeface="Times New Roman"/>
              <a:ea typeface="Lato"/>
              <a:cs typeface="Lato"/>
            </a:endParaRPr>
          </a:p>
        </p:txBody>
      </p:sp>
      <p:sp>
        <p:nvSpPr>
          <p:cNvPr id="8" name="Chỗ dành sẵn cho Nội dung 7">
            <a:extLst>
              <a:ext uri="{FF2B5EF4-FFF2-40B4-BE49-F238E27FC236}">
                <a16:creationId xmlns:a16="http://schemas.microsoft.com/office/drawing/2014/main" id="{92DBE197-653F-7C0A-4399-6119CF30F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4857724" cy="5132832"/>
          </a:xfrm>
        </p:spPr>
        <p:txBody>
          <a:bodyPr lIns="91440" tIns="45720" rIns="91440" bIns="45720" anchor="t"/>
          <a:lstStyle/>
          <a:p>
            <a:pPr algn="just"/>
            <a:r>
              <a:rPr lang="vi-VN" sz="2200" b="1" dirty="0">
                <a:latin typeface="Times New Roman"/>
                <a:ea typeface="Lato"/>
                <a:cs typeface="Lato"/>
              </a:rPr>
              <a:t>Bối cảnh &amp; vấn đề thực tiễn</a:t>
            </a:r>
            <a:endParaRPr lang="vi-VN" sz="2200" dirty="0">
              <a:latin typeface="Times New Roman"/>
              <a:cs typeface="Lato"/>
            </a:endParaRPr>
          </a:p>
          <a:p>
            <a:pPr algn="just">
              <a:buFontTx/>
              <a:buChar char="-"/>
            </a:pPr>
            <a:r>
              <a:rPr lang="vi-VN" sz="2200" dirty="0">
                <a:latin typeface="Times New Roman"/>
                <a:ea typeface="Lato"/>
                <a:cs typeface="Lato"/>
              </a:rPr>
              <a:t>Mạng 5G đòi hỏi mô hình hóa kênh truyền chính xác</a:t>
            </a:r>
          </a:p>
          <a:p>
            <a:pPr algn="just">
              <a:buFontTx/>
              <a:buChar char="-"/>
            </a:pPr>
            <a:r>
              <a:rPr lang="vi-VN" sz="2200" dirty="0">
                <a:latin typeface="Times New Roman"/>
                <a:ea typeface="Lato"/>
                <a:cs typeface="Lato"/>
              </a:rPr>
              <a:t>Đo đạc thực tế: chi phí cao, không linh hoạt</a:t>
            </a:r>
          </a:p>
          <a:p>
            <a:pPr algn="just">
              <a:buFontTx/>
              <a:buChar char="-"/>
            </a:pPr>
            <a:r>
              <a:rPr lang="vi-VN" sz="2200" dirty="0">
                <a:latin typeface="Times New Roman"/>
                <a:ea typeface="Lato"/>
                <a:cs typeface="Lato"/>
              </a:rPr>
              <a:t>Mô hình kênh truyền thống: khó tổng quát, thiếu thích ứng</a:t>
            </a:r>
          </a:p>
          <a:p>
            <a:pPr algn="just"/>
            <a:r>
              <a:rPr lang="vi-VN" sz="2200" b="1" dirty="0">
                <a:latin typeface="Times New Roman"/>
                <a:ea typeface="Lato"/>
                <a:cs typeface="Lato"/>
              </a:rPr>
              <a:t>Cơ hội từ học sâu sinh dữ liệu</a:t>
            </a:r>
          </a:p>
          <a:p>
            <a:pPr algn="just">
              <a:buFontTx/>
              <a:buChar char="-"/>
            </a:pPr>
            <a:r>
              <a:rPr lang="vi-VN" sz="2200" dirty="0" err="1">
                <a:latin typeface="Times New Roman"/>
                <a:ea typeface="Lato"/>
                <a:cs typeface="Lato"/>
              </a:rPr>
              <a:t>Generative</a:t>
            </a:r>
            <a:r>
              <a:rPr lang="vi-VN" sz="2200" dirty="0">
                <a:latin typeface="Times New Roman"/>
                <a:ea typeface="Lato"/>
                <a:cs typeface="Lato"/>
              </a:rPr>
              <a:t> AI có khả năng học phân bố dữ liệu thực </a:t>
            </a:r>
          </a:p>
          <a:p>
            <a:pPr algn="just">
              <a:buFontTx/>
              <a:buChar char="-"/>
            </a:pPr>
            <a:r>
              <a:rPr lang="vi-VN" sz="2200" dirty="0">
                <a:latin typeface="Times New Roman"/>
                <a:ea typeface="Lato"/>
                <a:cs typeface="Lato"/>
              </a:rPr>
              <a:t>Có thể sinh dữ liệu mới với các tính chất giống dữ liệu đo đạc</a:t>
            </a:r>
          </a:p>
          <a:p>
            <a:pPr algn="just">
              <a:buFontTx/>
              <a:buChar char="-"/>
            </a:pPr>
            <a:r>
              <a:rPr lang="vi-VN" sz="2200" dirty="0">
                <a:latin typeface="Times New Roman"/>
                <a:ea typeface="Lato"/>
                <a:cs typeface="Lato"/>
              </a:rPr>
              <a:t>Giảm thiểu chi phí, mở rộng khả năng mô phỏng linh hoạt</a:t>
            </a:r>
          </a:p>
        </p:txBody>
      </p:sp>
      <p:grpSp>
        <p:nvGrpSpPr>
          <p:cNvPr id="35" name="Nhóm 34">
            <a:extLst>
              <a:ext uri="{FF2B5EF4-FFF2-40B4-BE49-F238E27FC236}">
                <a16:creationId xmlns:a16="http://schemas.microsoft.com/office/drawing/2014/main" id="{BB94C8D7-F1EF-592A-4806-3E08F8EEA102}"/>
              </a:ext>
            </a:extLst>
          </p:cNvPr>
          <p:cNvGrpSpPr/>
          <p:nvPr/>
        </p:nvGrpSpPr>
        <p:grpSpPr>
          <a:xfrm>
            <a:off x="5181574" y="2513461"/>
            <a:ext cx="3883808" cy="2180924"/>
            <a:chOff x="4789415" y="1480457"/>
            <a:chExt cx="3883808" cy="2180924"/>
          </a:xfrm>
        </p:grpSpPr>
        <p:sp>
          <p:nvSpPr>
            <p:cNvPr id="11" name="Hình chữ nhật: Góc Tròn 10">
              <a:extLst>
                <a:ext uri="{FF2B5EF4-FFF2-40B4-BE49-F238E27FC236}">
                  <a16:creationId xmlns:a16="http://schemas.microsoft.com/office/drawing/2014/main" id="{A890A060-42DF-B364-BB37-39736B45E380}"/>
                </a:ext>
              </a:extLst>
            </p:cNvPr>
            <p:cNvSpPr/>
            <p:nvPr/>
          </p:nvSpPr>
          <p:spPr>
            <a:xfrm>
              <a:off x="4924283" y="1480457"/>
              <a:ext cx="1128174" cy="89988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12" name="Hình chữ nhật: Góc Tròn 11">
              <a:extLst>
                <a:ext uri="{FF2B5EF4-FFF2-40B4-BE49-F238E27FC236}">
                  <a16:creationId xmlns:a16="http://schemas.microsoft.com/office/drawing/2014/main" id="{E8B9935D-3D68-0038-72E8-2F13B57D720A}"/>
                </a:ext>
              </a:extLst>
            </p:cNvPr>
            <p:cNvSpPr/>
            <p:nvPr/>
          </p:nvSpPr>
          <p:spPr>
            <a:xfrm>
              <a:off x="4789415" y="2761495"/>
              <a:ext cx="1607706" cy="89988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13" name="Hình chữ nhật: Góc Tròn 12">
              <a:extLst>
                <a:ext uri="{FF2B5EF4-FFF2-40B4-BE49-F238E27FC236}">
                  <a16:creationId xmlns:a16="http://schemas.microsoft.com/office/drawing/2014/main" id="{C47B3EDC-166F-987B-354B-C185EF2374D0}"/>
                </a:ext>
              </a:extLst>
            </p:cNvPr>
            <p:cNvSpPr/>
            <p:nvPr/>
          </p:nvSpPr>
          <p:spPr>
            <a:xfrm>
              <a:off x="7525295" y="1869171"/>
              <a:ext cx="1128174" cy="13422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14" name="Hộp Văn bản 13">
              <a:extLst>
                <a:ext uri="{FF2B5EF4-FFF2-40B4-BE49-F238E27FC236}">
                  <a16:creationId xmlns:a16="http://schemas.microsoft.com/office/drawing/2014/main" id="{9E5C7BED-56D9-68A4-7525-900F00D11003}"/>
                </a:ext>
              </a:extLst>
            </p:cNvPr>
            <p:cNvSpPr txBox="1"/>
            <p:nvPr/>
          </p:nvSpPr>
          <p:spPr>
            <a:xfrm>
              <a:off x="5065205" y="2079372"/>
              <a:ext cx="7665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400">
                  <a:latin typeface="Times New Roman"/>
                  <a:cs typeface="Times New Roman"/>
                </a:rPr>
                <a:t>Đo thực</a:t>
              </a:r>
              <a:endParaRPr lang="en-US" sz="1400">
                <a:latin typeface="Times New Roman"/>
                <a:cs typeface="Times New Roman"/>
              </a:endParaRPr>
            </a:p>
          </p:txBody>
        </p:sp>
        <p:sp>
          <p:nvSpPr>
            <p:cNvPr id="15" name="Hộp Văn bản 14">
              <a:extLst>
                <a:ext uri="{FF2B5EF4-FFF2-40B4-BE49-F238E27FC236}">
                  <a16:creationId xmlns:a16="http://schemas.microsoft.com/office/drawing/2014/main" id="{3A9E4CF4-182D-18A1-666C-1DEF77B7043D}"/>
                </a:ext>
              </a:extLst>
            </p:cNvPr>
            <p:cNvSpPr txBox="1"/>
            <p:nvPr/>
          </p:nvSpPr>
          <p:spPr>
            <a:xfrm>
              <a:off x="4789415" y="3330448"/>
              <a:ext cx="1607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>
                  <a:latin typeface="Times New Roman"/>
                  <a:cs typeface="Times New Roman"/>
                </a:rPr>
                <a:t>Mô hình thống kê</a:t>
              </a:r>
              <a:endParaRPr lang="en-US" sz="1400">
                <a:latin typeface="Times New Roman"/>
                <a:cs typeface="Times New Roman"/>
              </a:endParaRPr>
            </a:p>
          </p:txBody>
        </p:sp>
        <p:cxnSp>
          <p:nvCxnSpPr>
            <p:cNvPr id="17" name="Đường kết nối: Mũi tên Gấp khúc 16">
              <a:extLst>
                <a:ext uri="{FF2B5EF4-FFF2-40B4-BE49-F238E27FC236}">
                  <a16:creationId xmlns:a16="http://schemas.microsoft.com/office/drawing/2014/main" id="{3A9A3816-AF9E-BD67-299F-B1080B94179C}"/>
                </a:ext>
              </a:extLst>
            </p:cNvPr>
            <p:cNvCxnSpPr>
              <a:cxnSpLocks/>
              <a:stCxn id="11" idx="3"/>
              <a:endCxn id="13" idx="1"/>
            </p:cNvCxnSpPr>
            <p:nvPr/>
          </p:nvCxnSpPr>
          <p:spPr>
            <a:xfrm>
              <a:off x="6052457" y="1930400"/>
              <a:ext cx="1472838" cy="609905"/>
            </a:xfrm>
            <a:prstGeom prst="bentConnector3">
              <a:avLst>
                <a:gd name="adj1" fmla="val 61915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Đường kết nối: Mũi tên Gấp khúc 18">
              <a:extLst>
                <a:ext uri="{FF2B5EF4-FFF2-40B4-BE49-F238E27FC236}">
                  <a16:creationId xmlns:a16="http://schemas.microsoft.com/office/drawing/2014/main" id="{CAA41E50-2256-361A-0837-75D7C16A61AD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 flipV="1">
              <a:off x="6397121" y="2540305"/>
              <a:ext cx="1128174" cy="671133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Hộp Văn bản 20">
              <a:extLst>
                <a:ext uri="{FF2B5EF4-FFF2-40B4-BE49-F238E27FC236}">
                  <a16:creationId xmlns:a16="http://schemas.microsoft.com/office/drawing/2014/main" id="{DDF5A89E-B43B-91C2-DF97-D751791CEAFC}"/>
                </a:ext>
              </a:extLst>
            </p:cNvPr>
            <p:cNvSpPr txBox="1"/>
            <p:nvPr/>
          </p:nvSpPr>
          <p:spPr>
            <a:xfrm>
              <a:off x="7505541" y="2695780"/>
              <a:ext cx="11676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400">
                  <a:latin typeface="Times New Roman"/>
                  <a:cs typeface="Times New Roman"/>
                </a:rPr>
                <a:t>Mô hình </a:t>
              </a:r>
              <a:r>
                <a:rPr lang="vi-VN" sz="1400" err="1">
                  <a:latin typeface="Times New Roman"/>
                  <a:cs typeface="Times New Roman"/>
                </a:rPr>
                <a:t>Digital</a:t>
              </a:r>
              <a:r>
                <a:rPr lang="vi-VN" sz="1400">
                  <a:latin typeface="Times New Roman"/>
                  <a:cs typeface="Times New Roman"/>
                </a:rPr>
                <a:t> </a:t>
              </a:r>
              <a:r>
                <a:rPr lang="vi-VN" sz="1400" err="1">
                  <a:latin typeface="Times New Roman"/>
                  <a:cs typeface="Times New Roman"/>
                </a:rPr>
                <a:t>Twin</a:t>
              </a:r>
              <a:endParaRPr lang="en-US" sz="1400">
                <a:latin typeface="Times New Roman"/>
                <a:cs typeface="Times New Roman"/>
              </a:endParaRPr>
            </a:p>
          </p:txBody>
        </p:sp>
        <p:pic>
          <p:nvPicPr>
            <p:cNvPr id="30" name="Hình ảnh 29">
              <a:extLst>
                <a:ext uri="{FF2B5EF4-FFF2-40B4-BE49-F238E27FC236}">
                  <a16:creationId xmlns:a16="http://schemas.microsoft.com/office/drawing/2014/main" id="{F14A87FF-61E1-4A38-C208-CFB0A73D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671" y="1567756"/>
              <a:ext cx="565727" cy="565727"/>
            </a:xfrm>
            <a:prstGeom prst="rect">
              <a:avLst/>
            </a:prstGeom>
          </p:spPr>
        </p:pic>
        <p:pic>
          <p:nvPicPr>
            <p:cNvPr id="32" name="Hình ảnh 31">
              <a:extLst>
                <a:ext uri="{FF2B5EF4-FFF2-40B4-BE49-F238E27FC236}">
                  <a16:creationId xmlns:a16="http://schemas.microsoft.com/office/drawing/2014/main" id="{9FC91ED8-550F-51E5-5B8A-67FBDA29B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4930" y="2830286"/>
              <a:ext cx="997527" cy="507908"/>
            </a:xfrm>
            <a:prstGeom prst="rect">
              <a:avLst/>
            </a:prstGeom>
          </p:spPr>
        </p:pic>
        <p:pic>
          <p:nvPicPr>
            <p:cNvPr id="34" name="Hình ảnh 33">
              <a:extLst>
                <a:ext uri="{FF2B5EF4-FFF2-40B4-BE49-F238E27FC236}">
                  <a16:creationId xmlns:a16="http://schemas.microsoft.com/office/drawing/2014/main" id="{1336DAED-2BE5-A6E2-DC12-3311F3399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0727" y="2019498"/>
              <a:ext cx="637309" cy="637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C6F420EC-CDE9-BA98-9C1A-7F8B3899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757E77CA-6929-11AB-14C6-031D34E8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Lato"/>
              </a:rPr>
              <a:t>Đóng góp trong đề tài </a:t>
            </a:r>
            <a:endParaRPr lang="vi-VN">
              <a:latin typeface="Times New Roman"/>
            </a:endParaRP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C490C9DF-4583-FD4F-7846-61C55560E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28" y="973606"/>
            <a:ext cx="8914182" cy="5132832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b="1">
                <a:latin typeface="Times New Roman"/>
                <a:ea typeface="Lato"/>
                <a:cs typeface="Lato"/>
              </a:rPr>
              <a:t>Các nghiên cứu trước:</a:t>
            </a:r>
            <a:endParaRPr lang="en-US" b="1">
              <a:latin typeface="Times New Roman"/>
            </a:endParaRPr>
          </a:p>
          <a:p>
            <a:r>
              <a:rPr lang="vi-VN" sz="2000">
                <a:latin typeface="Times New Roman"/>
                <a:ea typeface="Lato"/>
                <a:cs typeface="Lato"/>
              </a:rPr>
              <a:t>Chỉ nghiên cứu ở 1 kịch bản.</a:t>
            </a:r>
            <a:endParaRPr lang="vi-VN" sz="2000">
              <a:latin typeface="Times New Roman"/>
            </a:endParaRPr>
          </a:p>
          <a:p>
            <a:r>
              <a:rPr lang="vi-VN" sz="2000">
                <a:latin typeface="Times New Roman"/>
                <a:ea typeface="Lato"/>
                <a:cs typeface="Lato"/>
              </a:rPr>
              <a:t>Chủ yếu nghiên cứu dựa trên dữ liệu mô phỏng.</a:t>
            </a:r>
          </a:p>
          <a:p>
            <a:r>
              <a:rPr lang="vi-VN" sz="2000">
                <a:latin typeface="Times New Roman"/>
                <a:ea typeface="Lato"/>
                <a:cs typeface="Lato"/>
              </a:rPr>
              <a:t>Chưa so sánh nhiều biến thể GAN với nhau.</a:t>
            </a:r>
          </a:p>
          <a:p>
            <a:r>
              <a:rPr lang="vi-VN" sz="2000">
                <a:latin typeface="Times New Roman"/>
                <a:ea typeface="Lato"/>
                <a:cs typeface="Lato"/>
              </a:rPr>
              <a:t>Chỉ đánh giá chất lượng kênh qua hệ thống SISO-OFDM đơn giản.</a:t>
            </a:r>
          </a:p>
          <a:p>
            <a:pPr marL="0" indent="0">
              <a:buNone/>
            </a:pPr>
            <a:r>
              <a:rPr lang="vi-VN" b="1">
                <a:latin typeface="Times New Roman"/>
                <a:ea typeface="Lato"/>
                <a:cs typeface="Lato"/>
              </a:rPr>
              <a:t>Đóng góp:</a:t>
            </a:r>
          </a:p>
          <a:p>
            <a:r>
              <a:rPr lang="vi-VN" sz="2000">
                <a:latin typeface="Times New Roman"/>
                <a:ea typeface="Lato"/>
                <a:cs typeface="Lato"/>
              </a:rPr>
              <a:t>Đánh giá khả năng của GAN trong nhiều kịch bản: </a:t>
            </a:r>
            <a:r>
              <a:rPr lang="vi-VN" sz="2000" err="1">
                <a:latin typeface="Times New Roman"/>
                <a:ea typeface="Lato"/>
                <a:cs typeface="Lato"/>
              </a:rPr>
              <a:t>Indoor</a:t>
            </a:r>
            <a:r>
              <a:rPr lang="vi-VN" sz="2000">
                <a:latin typeface="Times New Roman"/>
                <a:ea typeface="Lato"/>
                <a:cs typeface="Lato"/>
              </a:rPr>
              <a:t> + SISO, </a:t>
            </a:r>
            <a:r>
              <a:rPr lang="vi-VN" sz="2000" err="1">
                <a:latin typeface="Times New Roman"/>
                <a:ea typeface="Lato"/>
                <a:cs typeface="Lato"/>
              </a:rPr>
              <a:t>Outdoor</a:t>
            </a:r>
            <a:r>
              <a:rPr lang="vi-VN" sz="2000">
                <a:latin typeface="Times New Roman"/>
                <a:ea typeface="Lato"/>
                <a:cs typeface="Lato"/>
              </a:rPr>
              <a:t> + MIMO.</a:t>
            </a:r>
          </a:p>
          <a:p>
            <a:r>
              <a:rPr lang="vi-VN" sz="2000">
                <a:latin typeface="Times New Roman"/>
                <a:ea typeface="Lato"/>
                <a:cs typeface="Lato"/>
              </a:rPr>
              <a:t>Thực hiện so sánh nhiều biến thể GAN.</a:t>
            </a:r>
          </a:p>
          <a:p>
            <a:r>
              <a:rPr lang="vi-VN" sz="2000">
                <a:latin typeface="Times New Roman"/>
                <a:ea typeface="Lato"/>
                <a:cs typeface="Lato"/>
              </a:rPr>
              <a:t>Sử dụng dữ liệu đầu vào là dữ liệu đo đạc thực tế.</a:t>
            </a:r>
          </a:p>
          <a:p>
            <a:r>
              <a:rPr lang="vi-VN" sz="2000">
                <a:latin typeface="Times New Roman"/>
                <a:ea typeface="Lato"/>
                <a:cs typeface="Lato"/>
              </a:rPr>
              <a:t>Đánh giá chất lượng kênh qua hệ thống MIMO-OFDM phức tạp hơn, phù hợp với 1 hệ thống 5G.</a:t>
            </a:r>
          </a:p>
          <a:p>
            <a:endParaRPr lang="vi-VN" sz="2000">
              <a:latin typeface="Times New Roman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60313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Lato"/>
              </a:rPr>
              <a:t>Chương 2: Cơ sở lý thuyết</a:t>
            </a:r>
            <a:endParaRPr lang="en-US">
              <a:latin typeface="Times New Roman"/>
              <a:ea typeface="Lato"/>
              <a:cs typeface="Lato"/>
            </a:endParaRPr>
          </a:p>
        </p:txBody>
      </p:sp>
      <p:sp>
        <p:nvSpPr>
          <p:cNvPr id="5" name="Chỗ dành sẵn cho Nội dung 4">
            <a:extLst>
              <a:ext uri="{FF2B5EF4-FFF2-40B4-BE49-F238E27FC236}">
                <a16:creationId xmlns:a16="http://schemas.microsoft.com/office/drawing/2014/main" id="{1B51A2CF-23E2-8B3F-D709-B9225425A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023" y="1093034"/>
            <a:ext cx="4087061" cy="4791321"/>
          </a:xfrm>
        </p:spPr>
        <p:txBody>
          <a:bodyPr lIns="91440" tIns="45720" rIns="91440" bIns="45720" anchor="t"/>
          <a:lstStyle/>
          <a:p>
            <a:r>
              <a:rPr lang="en-US" sz="2200" b="1">
                <a:latin typeface="Times New Roman"/>
                <a:ea typeface="Lato"/>
                <a:cs typeface="Lato"/>
              </a:rPr>
              <a:t>Channel Impulse Response</a:t>
            </a:r>
            <a:r>
              <a:rPr lang="vi-VN" sz="2200" b="1">
                <a:latin typeface="Times New Roman"/>
                <a:ea typeface="Lato"/>
                <a:cs typeface="Lato"/>
              </a:rPr>
              <a:t> (CIR)</a:t>
            </a:r>
          </a:p>
          <a:p>
            <a:pPr>
              <a:buFontTx/>
              <a:buChar char="-"/>
            </a:pPr>
            <a:r>
              <a:rPr lang="en-US" sz="2200">
                <a:latin typeface="Times New Roman"/>
                <a:ea typeface="Lato"/>
                <a:cs typeface="Lato"/>
              </a:rPr>
              <a:t>Mô </a:t>
            </a:r>
            <a:r>
              <a:rPr lang="en-US" sz="2200" err="1">
                <a:latin typeface="Times New Roman"/>
                <a:ea typeface="Lato"/>
                <a:cs typeface="Lato"/>
              </a:rPr>
              <a:t>tả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sự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phản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hồi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của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kênh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truyền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khi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đầu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vào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là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một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xung</a:t>
            </a:r>
            <a:endParaRPr lang="vi-VN" sz="2200">
              <a:latin typeface="Times New Roman"/>
              <a:ea typeface="Lato"/>
              <a:cs typeface="Lato"/>
            </a:endParaRPr>
          </a:p>
          <a:p>
            <a:pPr>
              <a:buFontTx/>
              <a:buChar char="-"/>
            </a:pPr>
            <a:r>
              <a:rPr lang="en-US" sz="2200" err="1">
                <a:latin typeface="Times New Roman"/>
                <a:ea typeface="Lato"/>
                <a:cs typeface="Lato"/>
              </a:rPr>
              <a:t>Là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tổng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hợp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của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nhiều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tín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hiệu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phản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xạ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với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độ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trễ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và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biên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độ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khác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nhau</a:t>
            </a:r>
            <a:endParaRPr lang="vi-VN" sz="2200">
              <a:latin typeface="Times New Roman"/>
              <a:ea typeface="Lato"/>
              <a:cs typeface="Lato"/>
            </a:endParaRPr>
          </a:p>
          <a:p>
            <a:pPr>
              <a:buFontTx/>
              <a:buChar char="-"/>
            </a:pPr>
            <a:r>
              <a:rPr lang="vi-VN" sz="2200">
                <a:latin typeface="Times New Roman"/>
                <a:ea typeface="Lato"/>
                <a:cs typeface="Lato"/>
              </a:rPr>
              <a:t>Được ký hiệu: </a:t>
            </a:r>
            <a:r>
              <a:rPr lang="vi-VN" sz="2200" b="1">
                <a:latin typeface="Times New Roman"/>
                <a:ea typeface="Lato"/>
                <a:cs typeface="Lato"/>
              </a:rPr>
              <a:t>h(</a:t>
            </a:r>
            <a:r>
              <a:rPr lang="el-GR" sz="2200" b="1">
                <a:latin typeface="Times New Roman"/>
                <a:ea typeface="Lato"/>
                <a:cs typeface="Lato"/>
              </a:rPr>
              <a:t>τ, </a:t>
            </a:r>
            <a:r>
              <a:rPr lang="vi-VN" sz="2200" b="1">
                <a:latin typeface="Times New Roman"/>
                <a:ea typeface="Lato"/>
                <a:cs typeface="Lato"/>
              </a:rPr>
              <a:t>t)</a:t>
            </a:r>
            <a:r>
              <a:rPr lang="vi-VN" sz="2200">
                <a:latin typeface="Times New Roman"/>
                <a:ea typeface="Lato"/>
                <a:cs typeface="Lato"/>
              </a:rPr>
              <a:t> với </a:t>
            </a:r>
            <a:r>
              <a:rPr lang="el-GR" sz="2200">
                <a:latin typeface="Times New Roman"/>
                <a:ea typeface="Lato"/>
                <a:cs typeface="Lato"/>
              </a:rPr>
              <a:t>τ </a:t>
            </a:r>
            <a:r>
              <a:rPr lang="vi-VN" sz="2200">
                <a:latin typeface="Times New Roman"/>
                <a:ea typeface="Lato"/>
                <a:cs typeface="Lato"/>
              </a:rPr>
              <a:t>là trễ truyền và t là thời gian quan sát</a:t>
            </a:r>
          </a:p>
          <a:p>
            <a:pPr>
              <a:buFontTx/>
              <a:buChar char="-"/>
            </a:pPr>
            <a:endParaRPr lang="vi-VN" sz="2200">
              <a:latin typeface="Times New Roman"/>
            </a:endParaRPr>
          </a:p>
          <a:p>
            <a:endParaRPr lang="en-US" sz="2200">
              <a:latin typeface="Times New Roman"/>
            </a:endParaRP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54ABB575-27E6-D708-FBB0-6D8648A5D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103" y="1093034"/>
            <a:ext cx="4326182" cy="4791321"/>
          </a:xfrm>
        </p:spPr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vi-VN" sz="2200" b="1">
                <a:latin typeface="Times New Roman"/>
                <a:ea typeface="Lato"/>
                <a:cs typeface="Lato"/>
              </a:rPr>
              <a:t>Các đặc trưng vật lí của kênh truyền</a:t>
            </a:r>
            <a:endParaRPr lang="vi-VN" sz="2200">
              <a:latin typeface="Times New Roman"/>
              <a:ea typeface="Lato"/>
              <a:cs typeface="Lato"/>
            </a:endParaRPr>
          </a:p>
          <a:p>
            <a:pPr algn="just"/>
            <a:r>
              <a:rPr lang="en-US" sz="2200" b="1">
                <a:latin typeface="Times New Roman"/>
                <a:ea typeface="Lato"/>
                <a:cs typeface="Lato"/>
              </a:rPr>
              <a:t>Power Delay Profile (PDP)</a:t>
            </a:r>
            <a:r>
              <a:rPr lang="en-US" sz="2200">
                <a:latin typeface="Times New Roman"/>
                <a:ea typeface="Lato"/>
                <a:cs typeface="Lato"/>
              </a:rPr>
              <a:t>:</a:t>
            </a:r>
            <a:r>
              <a:rPr lang="vi-VN" sz="2200">
                <a:latin typeface="Times New Roman"/>
                <a:ea typeface="Lato"/>
                <a:cs typeface="Lato"/>
              </a:rPr>
              <a:t> biểu diễn năng lượng tín hiệu phân bố theo độ trễ, cung cấp thông tin về đa đường trong môi trường truyền dẫn. </a:t>
            </a:r>
          </a:p>
          <a:p>
            <a:pPr algn="just"/>
            <a:r>
              <a:rPr lang="en-US" sz="2200" b="1">
                <a:latin typeface="Times New Roman"/>
                <a:ea typeface="Lato"/>
                <a:cs typeface="Lato"/>
              </a:rPr>
              <a:t>RMS Delay Spread:</a:t>
            </a:r>
            <a:r>
              <a:rPr lang="vi-VN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thể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hiện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độ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phân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tán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của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tín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hiệu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theo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thời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gian</a:t>
            </a:r>
            <a:endParaRPr lang="vi-VN" sz="2200">
              <a:latin typeface="Times New Roman"/>
              <a:ea typeface="Lato"/>
              <a:cs typeface="Lato"/>
            </a:endParaRPr>
          </a:p>
          <a:p>
            <a:pPr algn="just"/>
            <a:r>
              <a:rPr lang="en-US" sz="2200" b="1">
                <a:latin typeface="Times New Roman"/>
                <a:ea typeface="Lato"/>
                <a:cs typeface="Lato"/>
              </a:rPr>
              <a:t>Path Loss:</a:t>
            </a:r>
            <a:r>
              <a:rPr lang="vi-VN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Tổn</a:t>
            </a:r>
            <a:r>
              <a:rPr lang="en-US" sz="2200">
                <a:latin typeface="Times New Roman"/>
                <a:ea typeface="Lato"/>
                <a:cs typeface="Lato"/>
              </a:rPr>
              <a:t> hao </a:t>
            </a:r>
            <a:r>
              <a:rPr lang="en-US" sz="2200" err="1">
                <a:latin typeface="Times New Roman"/>
                <a:ea typeface="Lato"/>
                <a:cs typeface="Lato"/>
              </a:rPr>
              <a:t>trung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bình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của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tín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hiệu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theo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khoảng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cách</a:t>
            </a:r>
            <a:endParaRPr lang="vi-VN" sz="2200">
              <a:latin typeface="Times New Roman"/>
              <a:ea typeface="Lato"/>
              <a:cs typeface="Lato"/>
            </a:endParaRPr>
          </a:p>
          <a:p>
            <a:pPr algn="just"/>
            <a:r>
              <a:rPr lang="en-US" sz="2200" b="1">
                <a:latin typeface="Times New Roman"/>
                <a:ea typeface="Lato"/>
                <a:cs typeface="Lato"/>
              </a:rPr>
              <a:t>Shadow Fading:</a:t>
            </a:r>
            <a:r>
              <a:rPr lang="vi-VN" sz="2200" b="1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Biến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đổi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tín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hiệu</a:t>
            </a:r>
            <a:r>
              <a:rPr lang="en-US" sz="2200">
                <a:latin typeface="Times New Roman"/>
                <a:ea typeface="Lato"/>
                <a:cs typeface="Lato"/>
              </a:rPr>
              <a:t> do </a:t>
            </a:r>
            <a:r>
              <a:rPr lang="en-US" sz="2200" err="1">
                <a:latin typeface="Times New Roman"/>
                <a:ea typeface="Lato"/>
                <a:cs typeface="Lato"/>
              </a:rPr>
              <a:t>vật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thể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lớn</a:t>
            </a:r>
            <a:r>
              <a:rPr lang="en-US" sz="2200">
                <a:latin typeface="Times New Roman"/>
                <a:ea typeface="Lato"/>
                <a:cs typeface="Lato"/>
              </a:rPr>
              <a:t> (</a:t>
            </a:r>
            <a:r>
              <a:rPr lang="en-US" sz="2200" err="1">
                <a:latin typeface="Times New Roman"/>
                <a:ea typeface="Lato"/>
                <a:cs typeface="Lato"/>
              </a:rPr>
              <a:t>tòa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nhà</a:t>
            </a:r>
            <a:r>
              <a:rPr lang="en-US" sz="2200">
                <a:latin typeface="Times New Roman"/>
                <a:ea typeface="Lato"/>
                <a:cs typeface="Lato"/>
              </a:rPr>
              <a:t>, </a:t>
            </a:r>
            <a:r>
              <a:rPr lang="en-US" sz="2200" err="1">
                <a:latin typeface="Times New Roman"/>
                <a:ea typeface="Lato"/>
                <a:cs typeface="Lato"/>
              </a:rPr>
              <a:t>cây</a:t>
            </a:r>
            <a:r>
              <a:rPr lang="en-US" sz="2200">
                <a:latin typeface="Times New Roman"/>
                <a:ea typeface="Lato"/>
                <a:cs typeface="Lato"/>
              </a:rPr>
              <a:t> </a:t>
            </a:r>
            <a:r>
              <a:rPr lang="en-US" sz="2200" err="1">
                <a:latin typeface="Times New Roman"/>
                <a:ea typeface="Lato"/>
                <a:cs typeface="Lato"/>
              </a:rPr>
              <a:t>cối</a:t>
            </a:r>
            <a:r>
              <a:rPr lang="en-US" sz="2200">
                <a:latin typeface="Times New Roman"/>
                <a:ea typeface="Lato"/>
                <a:cs typeface="Lato"/>
              </a:rPr>
              <a:t>)</a:t>
            </a:r>
            <a:endParaRPr lang="vi-VN" sz="2200">
              <a:latin typeface="Times New Roman"/>
              <a:ea typeface="Lato"/>
              <a:cs typeface="Lato"/>
            </a:endParaRPr>
          </a:p>
          <a:p>
            <a:pPr algn="just">
              <a:buFont typeface="Arial"/>
              <a:buChar char="•"/>
            </a:pPr>
            <a:endParaRPr lang="vi-VN" sz="2200">
              <a:latin typeface="Times New Roman"/>
            </a:endParaRPr>
          </a:p>
          <a:p>
            <a:pPr marL="0" indent="0" algn="just">
              <a:buNone/>
            </a:pPr>
            <a:endParaRPr lang="en-US" sz="2200">
              <a:latin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6</a:t>
            </a:fld>
            <a:endParaRPr lang="en-US">
              <a:latin typeface="Times New Roman"/>
              <a:cs typeface="Times New Roman"/>
            </a:endParaRP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352EBC05-47A2-8F12-62FC-916E8795B3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55" b="14000"/>
          <a:stretch>
            <a:fillRect/>
          </a:stretch>
        </p:blipFill>
        <p:spPr>
          <a:xfrm>
            <a:off x="554320" y="4238622"/>
            <a:ext cx="3762953" cy="1639259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0D8A11BF-0D85-8526-30E4-D913854F4572}"/>
              </a:ext>
            </a:extLst>
          </p:cNvPr>
          <p:cNvSpPr txBox="1"/>
          <p:nvPr/>
        </p:nvSpPr>
        <p:spPr>
          <a:xfrm>
            <a:off x="692799" y="5884645"/>
            <a:ext cx="43213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ea typeface="Lato"/>
                <a:cs typeface="Times New Roman"/>
              </a:rPr>
              <a:t>Hình 2.1 Phản hồi xung kênh truyền 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 descr="Ảnh có chứa văn bản, ảnh chụp màn hình, biểu đồ, Phông chữ&#10;&#10;Nội dung do AI tạo ra có thể không chính xác.">
            <a:extLst>
              <a:ext uri="{FF2B5EF4-FFF2-40B4-BE49-F238E27FC236}">
                <a16:creationId xmlns:a16="http://schemas.microsoft.com/office/drawing/2014/main" id="{A6724A85-B4C7-32D3-C321-F281202C1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32" y="974147"/>
            <a:ext cx="6188653" cy="3226378"/>
          </a:xfrm>
          <a:prstGeom prst="rect">
            <a:avLst/>
          </a:prstGeom>
          <a:ln>
            <a:noFill/>
          </a:ln>
        </p:spPr>
      </p:pic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A6735D0-780D-90F6-4D5E-FD70FBC8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E3372B80-E875-417B-0D0A-48F1E8A8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Lato"/>
              </a:rPr>
              <a:t>Mô hình kênh song sinh kỹ thuật số (</a:t>
            </a:r>
            <a:r>
              <a:rPr lang="vi-VN" err="1">
                <a:latin typeface="Times New Roman"/>
                <a:ea typeface="Lato"/>
                <a:cs typeface="Lato"/>
              </a:rPr>
              <a:t>Digital</a:t>
            </a:r>
            <a:r>
              <a:rPr lang="vi-VN">
                <a:latin typeface="Times New Roman"/>
                <a:ea typeface="Lato"/>
                <a:cs typeface="Lato"/>
              </a:rPr>
              <a:t> </a:t>
            </a:r>
            <a:r>
              <a:rPr lang="vi-VN" err="1">
                <a:latin typeface="Times New Roman"/>
                <a:ea typeface="Lato"/>
                <a:cs typeface="Lato"/>
              </a:rPr>
              <a:t>Channel</a:t>
            </a:r>
            <a:r>
              <a:rPr lang="vi-VN">
                <a:latin typeface="Times New Roman"/>
                <a:ea typeface="Lato"/>
                <a:cs typeface="Lato"/>
              </a:rPr>
              <a:t>)</a:t>
            </a:r>
            <a:endParaRPr lang="vi-VN">
              <a:latin typeface="Times New Roman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7F5EFB6A-3C7B-5240-2D81-FB8C698EF809}"/>
              </a:ext>
            </a:extLst>
          </p:cNvPr>
          <p:cNvSpPr txBox="1"/>
          <p:nvPr/>
        </p:nvSpPr>
        <p:spPr>
          <a:xfrm>
            <a:off x="5149458" y="2398094"/>
            <a:ext cx="3779663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vi-VN" sz="2200">
                <a:latin typeface="Times New Roman"/>
                <a:ea typeface="Calibri"/>
                <a:cs typeface="Calibri"/>
              </a:rPr>
              <a:t>Kiến trúc kênh song sinh kỹ thuật số gồm 3 lớp: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200">
                <a:latin typeface="Times New Roman"/>
                <a:ea typeface="Calibri"/>
                <a:cs typeface="Calibri"/>
              </a:rPr>
              <a:t>Lớp kênh vật lý.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200">
                <a:latin typeface="Times New Roman"/>
                <a:ea typeface="Calibri"/>
                <a:cs typeface="Calibri"/>
              </a:rPr>
              <a:t>Lớp </a:t>
            </a:r>
            <a:r>
              <a:rPr lang="vi-VN" sz="2200" err="1">
                <a:latin typeface="Times New Roman"/>
                <a:ea typeface="Calibri"/>
                <a:cs typeface="Calibri"/>
              </a:rPr>
              <a:t>Digital</a:t>
            </a:r>
            <a:r>
              <a:rPr lang="vi-VN" sz="2200">
                <a:latin typeface="Times New Roman"/>
                <a:ea typeface="Calibri"/>
                <a:cs typeface="Calibri"/>
              </a:rPr>
              <a:t> </a:t>
            </a:r>
            <a:r>
              <a:rPr lang="vi-VN" sz="2200" err="1">
                <a:latin typeface="Times New Roman"/>
                <a:ea typeface="Calibri"/>
                <a:cs typeface="Calibri"/>
              </a:rPr>
              <a:t>Twin</a:t>
            </a:r>
            <a:r>
              <a:rPr lang="vi-VN" sz="2200">
                <a:latin typeface="Times New Roman"/>
                <a:ea typeface="Calibri"/>
                <a:cs typeface="Calibri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200">
                <a:latin typeface="Times New Roman"/>
                <a:ea typeface="Calibri"/>
                <a:cs typeface="Calibri"/>
              </a:rPr>
              <a:t>Lớp chức năng.</a:t>
            </a:r>
          </a:p>
          <a:p>
            <a:pPr algn="just"/>
            <a:endParaRPr lang="en-US" sz="2200">
              <a:latin typeface="Times New Roman"/>
              <a:ea typeface="Calibri"/>
              <a:cs typeface="Calibri"/>
            </a:endParaRPr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A5940E50-E8E1-0E3D-C31B-BABD553C8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990" y="4875142"/>
            <a:ext cx="803565" cy="615229"/>
          </a:xfrm>
          <a:prstGeom prst="rect">
            <a:avLst/>
          </a:prstGeom>
        </p:spPr>
      </p:pic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2382AB01-BC5E-C544-8565-E94A3F0DF1CA}"/>
              </a:ext>
            </a:extLst>
          </p:cNvPr>
          <p:cNvSpPr txBox="1"/>
          <p:nvPr/>
        </p:nvSpPr>
        <p:spPr>
          <a:xfrm>
            <a:off x="2461555" y="4998091"/>
            <a:ext cx="558092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vi-VN" sz="2000" b="0" i="0" u="none" strike="noStrike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Calibri"/>
                <a:cs typeface="Calibri"/>
              </a:rPr>
              <a:t>Mấu chốt nằm ở lớp thứ 2: </a:t>
            </a:r>
            <a:r>
              <a:rPr lang="vi-VN" sz="2000" b="1" i="0" u="none" strike="noStrike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Calibri"/>
                <a:cs typeface="Calibri"/>
              </a:rPr>
              <a:t>DT </a:t>
            </a:r>
            <a:r>
              <a:rPr lang="vi-VN" sz="2000" b="1" i="0" u="none" strike="noStrike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Calibri"/>
                <a:cs typeface="Calibri"/>
              </a:rPr>
              <a:t>Channel</a:t>
            </a:r>
            <a:r>
              <a:rPr lang="vi-VN" sz="2000" b="1" i="0" u="none" strike="noStrike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Calibri"/>
                <a:cs typeface="Calibri"/>
              </a:rPr>
              <a:t> </a:t>
            </a:r>
            <a:r>
              <a:rPr lang="vi-VN" sz="2000" b="1" i="0" u="none" strike="noStrike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Calibri"/>
                <a:cs typeface="Calibri"/>
              </a:rPr>
              <a:t>Layer</a:t>
            </a:r>
            <a:r>
              <a:rPr lang="vi-VN" sz="20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Calibri"/>
                <a:cs typeface="Calibri"/>
              </a:rPr>
              <a:t>​ </a:t>
            </a:r>
            <a:endParaRPr 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ea typeface="Calibri"/>
              <a:cs typeface="Calibri"/>
            </a:endParaRPr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F5F5D97A-3B7F-6A4D-D58B-88D54C36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892" y="5488596"/>
            <a:ext cx="803565" cy="615229"/>
          </a:xfrm>
          <a:prstGeom prst="rect">
            <a:avLst/>
          </a:prstGeom>
        </p:spPr>
      </p:pic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02724FB6-C0CE-2296-A314-8D2D0618B027}"/>
              </a:ext>
            </a:extLst>
          </p:cNvPr>
          <p:cNvSpPr txBox="1"/>
          <p:nvPr/>
        </p:nvSpPr>
        <p:spPr>
          <a:xfrm>
            <a:off x="3314855" y="5610630"/>
            <a:ext cx="5313111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i="1" err="1">
                <a:solidFill>
                  <a:srgbClr val="000000"/>
                </a:solidFill>
                <a:latin typeface="Times New Roman"/>
                <a:cs typeface="Times New Roman"/>
              </a:rPr>
              <a:t>Áp</a:t>
            </a:r>
            <a:r>
              <a:rPr lang="en-US" sz="2000" b="1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b="1" i="1" err="1">
                <a:solidFill>
                  <a:srgbClr val="000000"/>
                </a:solidFill>
                <a:latin typeface="Times New Roman"/>
                <a:cs typeface="Times New Roman"/>
              </a:rPr>
              <a:t>dụng</a:t>
            </a:r>
            <a:r>
              <a:rPr lang="en-US" sz="2000" b="1" i="1">
                <a:solidFill>
                  <a:srgbClr val="000000"/>
                </a:solidFill>
                <a:latin typeface="Times New Roman"/>
                <a:cs typeface="Times New Roman"/>
              </a:rPr>
              <a:t> GAN </a:t>
            </a:r>
            <a:r>
              <a:rPr lang="en-US" sz="2000" b="1" i="1" err="1">
                <a:solidFill>
                  <a:srgbClr val="000000"/>
                </a:solidFill>
                <a:latin typeface="Times New Roman"/>
                <a:cs typeface="Times New Roman"/>
              </a:rPr>
              <a:t>trong</a:t>
            </a:r>
            <a:r>
              <a:rPr lang="en-US" sz="2000" b="1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b="1" i="1" err="1">
                <a:solidFill>
                  <a:srgbClr val="000000"/>
                </a:solidFill>
                <a:latin typeface="Times New Roman"/>
                <a:cs typeface="Times New Roman"/>
              </a:rPr>
              <a:t>mô</a:t>
            </a:r>
            <a:r>
              <a:rPr lang="en-US" sz="2000" b="1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b="1" i="1" err="1">
                <a:solidFill>
                  <a:srgbClr val="000000"/>
                </a:solidFill>
                <a:latin typeface="Times New Roman"/>
                <a:cs typeface="Times New Roman"/>
              </a:rPr>
              <a:t>hình</a:t>
            </a:r>
            <a:r>
              <a:rPr lang="en-US" sz="2000" b="1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b="1" i="1" err="1">
                <a:solidFill>
                  <a:srgbClr val="000000"/>
                </a:solidFill>
                <a:latin typeface="Times New Roman"/>
                <a:cs typeface="Times New Roman"/>
              </a:rPr>
              <a:t>hóa</a:t>
            </a:r>
            <a:r>
              <a:rPr lang="en-US" sz="2000" b="1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000" b="1" i="1" err="1">
                <a:solidFill>
                  <a:srgbClr val="000000"/>
                </a:solidFill>
                <a:latin typeface="Times New Roman"/>
                <a:cs typeface="Times New Roman"/>
              </a:rPr>
              <a:t>kênh</a:t>
            </a:r>
            <a:r>
              <a:rPr lang="en-US" sz="2000" b="1" i="1">
                <a:solidFill>
                  <a:srgbClr val="000000"/>
                </a:solidFill>
                <a:latin typeface="Times New Roman"/>
                <a:cs typeface="Times New Roman"/>
              </a:rPr>
              <a:t> DT</a:t>
            </a:r>
            <a:r>
              <a:rPr lang="en-US" sz="2000">
                <a:latin typeface="Times New Roman"/>
                <a:cs typeface="Times New Roman"/>
              </a:rPr>
              <a:t> </a:t>
            </a:r>
            <a:br>
              <a:rPr lang="en-US" sz="2000">
                <a:latin typeface="Times New Roman"/>
              </a:rPr>
            </a:br>
            <a:endParaRPr lang="en-US" sz="2000">
              <a:latin typeface="Times New Roman"/>
              <a:ea typeface="Calibri"/>
              <a:cs typeface="Calibri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F0F8CCDD-D8D6-A936-235A-D2AFEF03AAE5}"/>
              </a:ext>
            </a:extLst>
          </p:cNvPr>
          <p:cNvSpPr txBox="1"/>
          <p:nvPr/>
        </p:nvSpPr>
        <p:spPr>
          <a:xfrm>
            <a:off x="555729" y="4335729"/>
            <a:ext cx="55743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b="1" i="1">
                <a:latin typeface="Times New Roman"/>
                <a:ea typeface="Lato"/>
                <a:cs typeface="Lato"/>
              </a:rPr>
              <a:t>Hình 2.2 Mô hình kênh song sinh kỹ thuật số [1]</a:t>
            </a:r>
          </a:p>
        </p:txBody>
      </p:sp>
    </p:spTree>
    <p:extLst>
      <p:ext uri="{BB962C8B-B14F-4D97-AF65-F5344CB8AC3E}">
        <p14:creationId xmlns:p14="http://schemas.microsoft.com/office/powerpoint/2010/main" val="111031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B0DD6677-2CE2-F735-916A-535BD48D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316228BC-34D7-F0B3-4434-5A73A749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Lato"/>
              </a:rPr>
              <a:t>Ứng dụng GAN trong </a:t>
            </a:r>
            <a:r>
              <a:rPr lang="vi-VN" err="1">
                <a:latin typeface="Times New Roman"/>
                <a:ea typeface="Lato"/>
                <a:cs typeface="Lato"/>
              </a:rPr>
              <a:t>Digital</a:t>
            </a:r>
            <a:r>
              <a:rPr lang="vi-VN">
                <a:latin typeface="Times New Roman"/>
                <a:ea typeface="Lato"/>
                <a:cs typeface="Lato"/>
              </a:rPr>
              <a:t> </a:t>
            </a:r>
            <a:r>
              <a:rPr lang="vi-VN" err="1">
                <a:latin typeface="Times New Roman"/>
                <a:ea typeface="Lato"/>
                <a:cs typeface="Lato"/>
              </a:rPr>
              <a:t>Twin</a:t>
            </a:r>
            <a:r>
              <a:rPr lang="vi-VN">
                <a:latin typeface="Times New Roman"/>
                <a:ea typeface="Lato"/>
                <a:cs typeface="Lato"/>
              </a:rPr>
              <a:t> </a:t>
            </a:r>
            <a:r>
              <a:rPr lang="vi-VN" err="1">
                <a:latin typeface="Times New Roman"/>
                <a:ea typeface="Lato"/>
                <a:cs typeface="Lato"/>
              </a:rPr>
              <a:t>channel</a:t>
            </a:r>
            <a:endParaRPr lang="vi-VN">
              <a:latin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BB612D-360D-EA02-15CF-7810DE3402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4789942"/>
              </p:ext>
            </p:extLst>
          </p:nvPr>
        </p:nvGraphicFramePr>
        <p:xfrm>
          <a:off x="3054185" y="1046529"/>
          <a:ext cx="6017950" cy="5101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AD233481-7F0C-97CD-335E-4EEE7FF863EA}"/>
              </a:ext>
            </a:extLst>
          </p:cNvPr>
          <p:cNvSpPr/>
          <p:nvPr/>
        </p:nvSpPr>
        <p:spPr>
          <a:xfrm>
            <a:off x="427640" y="1133504"/>
            <a:ext cx="2524890" cy="4589658"/>
          </a:xfrm>
          <a:custGeom>
            <a:avLst/>
            <a:gdLst>
              <a:gd name="connsiteX0" fmla="*/ 0 w 5915891"/>
              <a:gd name="connsiteY0" fmla="*/ 2387600 h 4775200"/>
              <a:gd name="connsiteX1" fmla="*/ 2957946 w 5915891"/>
              <a:gd name="connsiteY1" fmla="*/ 0 h 4775200"/>
              <a:gd name="connsiteX2" fmla="*/ 5915892 w 5915891"/>
              <a:gd name="connsiteY2" fmla="*/ 2387600 h 4775200"/>
              <a:gd name="connsiteX3" fmla="*/ 2957946 w 5915891"/>
              <a:gd name="connsiteY3" fmla="*/ 4775200 h 4775200"/>
              <a:gd name="connsiteX4" fmla="*/ 0 w 5915891"/>
              <a:gd name="connsiteY4" fmla="*/ 2387600 h 4775200"/>
              <a:gd name="connsiteX0" fmla="*/ 26252 w 3365198"/>
              <a:gd name="connsiteY0" fmla="*/ 2526504 h 4775969"/>
              <a:gd name="connsiteX1" fmla="*/ 407252 w 3365198"/>
              <a:gd name="connsiteY1" fmla="*/ 359 h 4775969"/>
              <a:gd name="connsiteX2" fmla="*/ 3365198 w 3365198"/>
              <a:gd name="connsiteY2" fmla="*/ 2387959 h 4775969"/>
              <a:gd name="connsiteX3" fmla="*/ 407252 w 3365198"/>
              <a:gd name="connsiteY3" fmla="*/ 4775559 h 4775969"/>
              <a:gd name="connsiteX4" fmla="*/ 26252 w 3365198"/>
              <a:gd name="connsiteY4" fmla="*/ 2526504 h 4775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5198" h="4775969">
                <a:moveTo>
                  <a:pt x="26252" y="2526504"/>
                </a:moveTo>
                <a:cubicBezTo>
                  <a:pt x="26252" y="1207869"/>
                  <a:pt x="-149239" y="23450"/>
                  <a:pt x="407252" y="359"/>
                </a:cubicBezTo>
                <a:cubicBezTo>
                  <a:pt x="963743" y="-22732"/>
                  <a:pt x="3365198" y="1069324"/>
                  <a:pt x="3365198" y="2387959"/>
                </a:cubicBezTo>
                <a:cubicBezTo>
                  <a:pt x="3365198" y="3706594"/>
                  <a:pt x="963743" y="4752468"/>
                  <a:pt x="407252" y="4775559"/>
                </a:cubicBezTo>
                <a:cubicBezTo>
                  <a:pt x="-149239" y="4798650"/>
                  <a:pt x="26252" y="3845139"/>
                  <a:pt x="26252" y="25265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chemeClr val="bg2">
                <a:lumMod val="50000"/>
              </a:scheme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0276D92-ACDB-F177-E09D-9C2F7F421B90}"/>
              </a:ext>
            </a:extLst>
          </p:cNvPr>
          <p:cNvSpPr txBox="1"/>
          <p:nvPr/>
        </p:nvSpPr>
        <p:spPr>
          <a:xfrm>
            <a:off x="644612" y="2786943"/>
            <a:ext cx="2083323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vi-VN" sz="2400" b="1" i="1" u="none" strike="noStrike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Tại sao lại chọn mô hình GAN trong lớp DT </a:t>
            </a:r>
            <a:r>
              <a:rPr lang="vi-VN" sz="2400" b="1" i="1" u="none" strike="noStrike" err="1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channel</a:t>
            </a:r>
            <a:r>
              <a:rPr lang="vi-VN" sz="2400" b="1" i="1" u="none" strike="noStrike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?</a:t>
            </a:r>
            <a:r>
              <a:rPr lang="vi-VN" sz="24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​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668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" y="145567"/>
            <a:ext cx="9203782" cy="451739"/>
          </a:xfrm>
        </p:spPr>
        <p:txBody>
          <a:bodyPr lIns="91440" tIns="45720" rIns="91440" bIns="45720" anchor="t"/>
          <a:lstStyle/>
          <a:p>
            <a:r>
              <a:rPr lang="vi-VN" sz="2400">
                <a:latin typeface="Times New Roman"/>
                <a:ea typeface="Lato"/>
                <a:cs typeface="Times New Roman"/>
              </a:rPr>
              <a:t>Mạng đối nghịch tạo sinh (</a:t>
            </a:r>
            <a:r>
              <a:rPr lang="vi-VN" sz="2400" err="1">
                <a:latin typeface="Times New Roman"/>
                <a:ea typeface="Lato"/>
                <a:cs typeface="Times New Roman"/>
              </a:rPr>
              <a:t>Generative</a:t>
            </a:r>
            <a:r>
              <a:rPr lang="vi-VN" sz="2400">
                <a:latin typeface="Times New Roman"/>
                <a:ea typeface="Lato"/>
                <a:cs typeface="Times New Roman"/>
              </a:rPr>
              <a:t> </a:t>
            </a:r>
            <a:r>
              <a:rPr lang="vi-VN" sz="2400" err="1">
                <a:latin typeface="Times New Roman"/>
                <a:ea typeface="Lato"/>
                <a:cs typeface="Times New Roman"/>
              </a:rPr>
              <a:t>Adversarial</a:t>
            </a:r>
            <a:r>
              <a:rPr lang="vi-VN" sz="2400">
                <a:latin typeface="Times New Roman"/>
                <a:ea typeface="Lato"/>
                <a:cs typeface="Times New Roman"/>
              </a:rPr>
              <a:t> </a:t>
            </a:r>
            <a:r>
              <a:rPr lang="vi-VN" sz="2400" err="1">
                <a:latin typeface="Times New Roman"/>
                <a:ea typeface="Lato"/>
                <a:cs typeface="Times New Roman"/>
              </a:rPr>
              <a:t>Networks</a:t>
            </a:r>
            <a:r>
              <a:rPr lang="vi-VN" sz="2400">
                <a:latin typeface="Times New Roman"/>
                <a:ea typeface="Lato"/>
                <a:cs typeface="Times New Roman"/>
              </a:rPr>
              <a:t>- GAN) </a:t>
            </a:r>
          </a:p>
          <a:p>
            <a:endParaRPr lang="vi-VN" sz="24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94D1-B0B9-97CB-A9B2-4F2D31319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5456" y="1026080"/>
            <a:ext cx="8228180" cy="4351338"/>
          </a:xfrm>
        </p:spPr>
        <p:txBody>
          <a:bodyPr lIns="91440" tIns="45720" rIns="91440" bIns="45720" anchor="t"/>
          <a:lstStyle/>
          <a:p>
            <a:pPr fontAlgn="base"/>
            <a:r>
              <a:rPr lang="vi-VN" sz="2400">
                <a:latin typeface="Times New Roman"/>
                <a:ea typeface="Lato"/>
                <a:cs typeface="Times New Roman"/>
              </a:rPr>
              <a:t>GAN là mô hình học không giám sát</a:t>
            </a:r>
            <a:r>
              <a:rPr lang="en-US" sz="2400">
                <a:latin typeface="Times New Roman"/>
                <a:ea typeface="Lato"/>
                <a:cs typeface="Times New Roman"/>
              </a:rPr>
              <a:t>​</a:t>
            </a:r>
          </a:p>
          <a:p>
            <a:pPr algn="just" fontAlgn="base"/>
            <a:r>
              <a:rPr lang="vi-VN" sz="2400">
                <a:latin typeface="Times New Roman"/>
                <a:ea typeface="Lato"/>
                <a:cs typeface="Times New Roman"/>
              </a:rPr>
              <a:t>Mục tiêu: học phân phối của dữ liệu đầu vào và sinh ra dữ liệu mới tương đồng về đặc trưng thống kê.</a:t>
            </a:r>
            <a:r>
              <a:rPr lang="en-US" sz="2400">
                <a:latin typeface="Times New Roman"/>
                <a:ea typeface="Lato"/>
                <a:cs typeface="Times New Roman"/>
              </a:rPr>
              <a:t>​</a:t>
            </a:r>
          </a:p>
          <a:p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9</a:t>
            </a:fld>
            <a:endParaRPr lang="en-US">
              <a:latin typeface="Times New Roman"/>
              <a:cs typeface="Times New Roman"/>
            </a:endParaRPr>
          </a:p>
        </p:txBody>
      </p:sp>
      <p:pic>
        <p:nvPicPr>
          <p:cNvPr id="3074" name="Picture 2" descr="GAN(Generative Adversarial Networks)">
            <a:extLst>
              <a:ext uri="{FF2B5EF4-FFF2-40B4-BE49-F238E27FC236}">
                <a16:creationId xmlns:a16="http://schemas.microsoft.com/office/drawing/2014/main" id="{2CF25751-1589-A1A8-AAEC-0E1CD54524C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65"/>
          <a:stretch>
            <a:fillRect/>
          </a:stretch>
        </p:blipFill>
        <p:spPr bwMode="auto">
          <a:xfrm>
            <a:off x="2068970" y="3530027"/>
            <a:ext cx="4858689" cy="202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5AC905A-74AD-4B8B-165F-1297F1458402}"/>
              </a:ext>
            </a:extLst>
          </p:cNvPr>
          <p:cNvSpPr txBox="1"/>
          <p:nvPr/>
        </p:nvSpPr>
        <p:spPr>
          <a:xfrm>
            <a:off x="648353" y="2573670"/>
            <a:ext cx="7846323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vi-VN" sz="2800" b="1" i="0" u="none" strike="noStrike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Làm sao GAN có thể tạo ra dữ liệu mới có đặc điểm thống kê giống dữ liệu thật?</a:t>
            </a:r>
            <a:r>
              <a:rPr lang="vi-VN" sz="2800" b="0" i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​</a:t>
            </a:r>
            <a:endParaRPr lang="en-US" sz="28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40CFF819-8487-F2EE-4F89-AD42F9CC3810}"/>
              </a:ext>
            </a:extLst>
          </p:cNvPr>
          <p:cNvSpPr txBox="1"/>
          <p:nvPr/>
        </p:nvSpPr>
        <p:spPr>
          <a:xfrm>
            <a:off x="1477727" y="5719608"/>
            <a:ext cx="61932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b="1" i="1">
                <a:latin typeface="Times New Roman"/>
                <a:cs typeface="Times New Roman"/>
              </a:rPr>
              <a:t>Hình 2.3 Minh họa dữ liệu thực và dữ liệu do GAN sinh ra [2]</a:t>
            </a:r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10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Tiêu đề 6">
            <a:extLst>
              <a:ext uri="{FF2B5EF4-FFF2-40B4-BE49-F238E27FC236}">
                <a16:creationId xmlns:a16="http://schemas.microsoft.com/office/drawing/2014/main" id="{A351658A-FAC6-1A33-1159-80F6679F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Kiến trúc mạng GAN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BCE52E5-44E0-0C75-B491-960DE39440D8}"/>
              </a:ext>
            </a:extLst>
          </p:cNvPr>
          <p:cNvSpPr txBox="1"/>
          <p:nvPr/>
        </p:nvSpPr>
        <p:spPr>
          <a:xfrm>
            <a:off x="26694" y="920807"/>
            <a:ext cx="4564436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000">
                <a:latin typeface="Times New Roman"/>
                <a:ea typeface="Calibri"/>
                <a:cs typeface="Times New Roman"/>
              </a:rPr>
              <a:t>Gồm hai mạng nơ-</a:t>
            </a:r>
            <a:r>
              <a:rPr lang="vi-VN" sz="2000" err="1">
                <a:latin typeface="Times New Roman"/>
                <a:ea typeface="Calibri"/>
                <a:cs typeface="Times New Roman"/>
              </a:rPr>
              <a:t>ron</a:t>
            </a:r>
            <a:r>
              <a:rPr lang="vi-VN" sz="2000">
                <a:latin typeface="Times New Roman"/>
                <a:ea typeface="Calibri"/>
                <a:cs typeface="Times New Roman"/>
              </a:rPr>
              <a:t> huấn luyện theo cơ chế đối kháng: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>
                <a:latin typeface="Times New Roman"/>
                <a:ea typeface="Calibri"/>
                <a:cs typeface="Times New Roman"/>
              </a:rPr>
              <a:t>Bộ tạo (</a:t>
            </a:r>
            <a:r>
              <a:rPr lang="vi-VN" sz="2000" b="1" err="1">
                <a:latin typeface="Times New Roman"/>
                <a:ea typeface="Calibri"/>
                <a:cs typeface="Times New Roman"/>
              </a:rPr>
              <a:t>Generator</a:t>
            </a:r>
            <a:r>
              <a:rPr lang="vi-VN" sz="2000">
                <a:latin typeface="Times New Roman"/>
                <a:ea typeface="Calibri"/>
                <a:cs typeface="Times New Roman"/>
              </a:rPr>
              <a:t>):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>
                <a:latin typeface="Times New Roman"/>
                <a:ea typeface="Calibri"/>
                <a:cs typeface="Times New Roman"/>
              </a:rPr>
              <a:t>Nhận đầu vào là nhiễu ngẫu nhiên (</a:t>
            </a:r>
            <a:r>
              <a:rPr lang="vi-VN" sz="2000" err="1">
                <a:latin typeface="Times New Roman"/>
                <a:ea typeface="Calibri"/>
                <a:cs typeface="Times New Roman"/>
              </a:rPr>
              <a:t>random</a:t>
            </a:r>
            <a:r>
              <a:rPr lang="vi-VN" sz="2000">
                <a:latin typeface="Times New Roman"/>
                <a:ea typeface="Calibri"/>
                <a:cs typeface="Times New Roman"/>
              </a:rPr>
              <a:t> </a:t>
            </a:r>
            <a:r>
              <a:rPr lang="vi-VN" sz="2000" err="1">
                <a:latin typeface="Times New Roman"/>
                <a:ea typeface="Calibri"/>
                <a:cs typeface="Times New Roman"/>
              </a:rPr>
              <a:t>noise</a:t>
            </a:r>
            <a:r>
              <a:rPr lang="vi-VN" sz="2000">
                <a:latin typeface="Times New Roman"/>
                <a:ea typeface="Calibri"/>
                <a:cs typeface="Times New Roman"/>
              </a:rPr>
              <a:t>).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>
                <a:latin typeface="Times New Roman"/>
                <a:ea typeface="Calibri"/>
                <a:cs typeface="Times New Roman"/>
              </a:rPr>
              <a:t>Tạo ra dữ liệu giả (ví dụ: ảnh, tín hiệu kênh truyền...).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>
                <a:latin typeface="Times New Roman"/>
                <a:ea typeface="Calibri"/>
                <a:cs typeface="Times New Roman"/>
              </a:rPr>
              <a:t>Mục tiêu: đánh lừa được bộ phân biệt.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>
                <a:latin typeface="Times New Roman"/>
                <a:ea typeface="Calibri"/>
                <a:cs typeface="Times New Roman"/>
              </a:rPr>
              <a:t>Bộ phân biệt (</a:t>
            </a:r>
            <a:r>
              <a:rPr lang="vi-VN" sz="2000" b="1" err="1">
                <a:latin typeface="Times New Roman"/>
                <a:ea typeface="Calibri"/>
                <a:cs typeface="Times New Roman"/>
              </a:rPr>
              <a:t>Discriminator</a:t>
            </a:r>
            <a:r>
              <a:rPr lang="vi-VN" sz="2000">
                <a:latin typeface="Times New Roman"/>
                <a:ea typeface="Calibri"/>
                <a:cs typeface="Times New Roman"/>
              </a:rPr>
              <a:t>):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err="1">
                <a:latin typeface="Times New Roman"/>
                <a:ea typeface="Calibri"/>
                <a:cs typeface="Times New Roman"/>
              </a:rPr>
              <a:t>Nhận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đầu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vào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là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dữ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liệu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thật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hoặc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dữ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liệu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giả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từ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Generator.</a:t>
            </a:r>
            <a:endParaRPr lang="vi-VN" sz="200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Times New Roman"/>
                <a:ea typeface="Calibri"/>
                <a:cs typeface="Times New Roman"/>
              </a:rPr>
              <a:t>Học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cách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phân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biệt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thật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–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giả</a:t>
            </a:r>
            <a:r>
              <a:rPr lang="en-US" sz="2000">
                <a:latin typeface="Times New Roman"/>
                <a:ea typeface="Calibri"/>
                <a:cs typeface="Times New Roman"/>
              </a:rPr>
              <a:t>.</a:t>
            </a:r>
            <a:endParaRPr lang="vi-VN" sz="200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err="1">
                <a:latin typeface="Times New Roman"/>
                <a:ea typeface="Calibri"/>
                <a:cs typeface="Times New Roman"/>
              </a:rPr>
              <a:t>Mục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tiêu</a:t>
            </a:r>
            <a:r>
              <a:rPr lang="en-US" sz="2000">
                <a:latin typeface="Times New Roman"/>
                <a:ea typeface="Calibri"/>
                <a:cs typeface="Times New Roman"/>
              </a:rPr>
              <a:t>: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phát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hiện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chính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xác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đâu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là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dữ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liệu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thật</a:t>
            </a:r>
            <a:r>
              <a:rPr lang="en-US" sz="2000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BC5CEED-5557-5E5B-4DDC-B009263CC8AB}"/>
              </a:ext>
            </a:extLst>
          </p:cNvPr>
          <p:cNvSpPr txBox="1"/>
          <p:nvPr/>
        </p:nvSpPr>
        <p:spPr>
          <a:xfrm>
            <a:off x="5679499" y="5877648"/>
            <a:ext cx="443617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ea typeface="Lato"/>
                <a:cs typeface="Times New Roman"/>
              </a:rPr>
              <a:t>Hình 2.4 Kiến trúc mạng GAN [3]</a:t>
            </a:r>
          </a:p>
        </p:txBody>
      </p:sp>
      <p:pic>
        <p:nvPicPr>
          <p:cNvPr id="3" name="Hình ảnh 2" descr="Giới thiệu về Generative Adversarial Networks (GANs) - Blog của Lưu">
            <a:extLst>
              <a:ext uri="{FF2B5EF4-FFF2-40B4-BE49-F238E27FC236}">
                <a16:creationId xmlns:a16="http://schemas.microsoft.com/office/drawing/2014/main" id="{C7FAF228-68E9-8D94-0580-53B05F0C0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291" y="911039"/>
            <a:ext cx="4218709" cy="49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Mô hình WGAN</a:t>
            </a:r>
            <a:endParaRPr lang="vi-VN">
              <a:latin typeface="Times New Roman"/>
              <a:cs typeface="Times New Roman"/>
            </a:endParaRPr>
          </a:p>
        </p:txBody>
      </p:sp>
      <p:sp>
        <p:nvSpPr>
          <p:cNvPr id="8" name="Chỗ dành sẵn cho Nội dung 7">
            <a:extLst>
              <a:ext uri="{FF2B5EF4-FFF2-40B4-BE49-F238E27FC236}">
                <a16:creationId xmlns:a16="http://schemas.microsoft.com/office/drawing/2014/main" id="{4888B3F4-AF6B-63FC-34AC-E45B9A840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227" y="955322"/>
            <a:ext cx="4335748" cy="1740134"/>
          </a:xfrm>
        </p:spPr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vi-VN" sz="2400" b="1">
                <a:latin typeface="Times New Roman"/>
                <a:ea typeface="Lato"/>
                <a:cs typeface="Times New Roman"/>
              </a:rPr>
              <a:t>Hạn chế của GAN:</a:t>
            </a:r>
            <a:endParaRPr lang="vi-VN" sz="2400" b="1">
              <a:latin typeface="Times New Roman"/>
              <a:cs typeface="Times New Roman"/>
            </a:endParaRPr>
          </a:p>
          <a:p>
            <a:pPr algn="just">
              <a:buFontTx/>
              <a:buChar char="-"/>
            </a:pPr>
            <a:r>
              <a:rPr lang="vi-VN" sz="2400">
                <a:latin typeface="Times New Roman"/>
                <a:ea typeface="Lato"/>
                <a:cs typeface="Times New Roman"/>
              </a:rPr>
              <a:t>Huấn luyện không ổn định</a:t>
            </a:r>
          </a:p>
          <a:p>
            <a:pPr algn="just">
              <a:buFontTx/>
              <a:buChar char="-"/>
            </a:pPr>
            <a:r>
              <a:rPr lang="vi-VN" sz="2400" err="1">
                <a:latin typeface="Times New Roman"/>
                <a:ea typeface="Lato"/>
                <a:cs typeface="Times New Roman"/>
              </a:rPr>
              <a:t>Mode</a:t>
            </a:r>
            <a:r>
              <a:rPr lang="vi-VN" sz="2400">
                <a:latin typeface="Times New Roman"/>
                <a:ea typeface="Lato"/>
                <a:cs typeface="Times New Roman"/>
              </a:rPr>
              <a:t> </a:t>
            </a:r>
            <a:r>
              <a:rPr lang="vi-VN" sz="2400" err="1">
                <a:latin typeface="Times New Roman"/>
                <a:ea typeface="Lato"/>
                <a:cs typeface="Times New Roman"/>
              </a:rPr>
              <a:t>collapse</a:t>
            </a:r>
            <a:endParaRPr lang="vi-VN" sz="2400">
              <a:latin typeface="Times New Roman"/>
              <a:ea typeface="Lato"/>
              <a:cs typeface="Times New Roman"/>
            </a:endParaRPr>
          </a:p>
          <a:p>
            <a:pPr algn="just">
              <a:buFontTx/>
              <a:buChar char="-"/>
            </a:pPr>
            <a:r>
              <a:rPr lang="vi-VN" sz="2400">
                <a:latin typeface="Times New Roman"/>
                <a:ea typeface="Lato"/>
                <a:cs typeface="Times New Roman"/>
              </a:rPr>
              <a:t>JS </a:t>
            </a:r>
            <a:r>
              <a:rPr lang="vi-VN" sz="2400" err="1">
                <a:latin typeface="Times New Roman"/>
                <a:ea typeface="Lato"/>
                <a:cs typeface="Times New Roman"/>
              </a:rPr>
              <a:t>Divergence</a:t>
            </a:r>
            <a:r>
              <a:rPr lang="vi-VN" sz="2400">
                <a:latin typeface="Times New Roman"/>
                <a:ea typeface="Lato"/>
                <a:cs typeface="Times New Roman"/>
              </a:rPr>
              <a:t> không hiệu quả</a:t>
            </a:r>
          </a:p>
          <a:p>
            <a:pPr marL="0" indent="0" algn="just">
              <a:buNone/>
            </a:pPr>
            <a:endParaRPr lang="vi-VN" sz="2400">
              <a:latin typeface="Times New Roman"/>
              <a:cs typeface="Times New Roman"/>
            </a:endParaRPr>
          </a:p>
        </p:txBody>
      </p:sp>
      <p:sp>
        <p:nvSpPr>
          <p:cNvPr id="9" name="Chỗ dành sẵn cho Nội dung 8">
            <a:extLst>
              <a:ext uri="{FF2B5EF4-FFF2-40B4-BE49-F238E27FC236}">
                <a16:creationId xmlns:a16="http://schemas.microsoft.com/office/drawing/2014/main" id="{7CEAB3BD-BAE5-9D57-97C5-88DE0DA18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5925" y="1095407"/>
            <a:ext cx="4880944" cy="1747272"/>
          </a:xfrm>
        </p:spPr>
        <p:txBody>
          <a:bodyPr lIns="91440" tIns="45720" rIns="91440" bIns="45720" anchor="t"/>
          <a:lstStyle/>
          <a:p>
            <a:pPr marL="0" indent="0" algn="just">
              <a:buNone/>
              <a:defRPr sz="1800"/>
            </a:pPr>
            <a:r>
              <a:rPr lang="vi-VN" sz="2400" b="1">
                <a:latin typeface="Times New Roman"/>
                <a:ea typeface="Lato"/>
                <a:cs typeface="Times New Roman"/>
              </a:rPr>
              <a:t>Hướng cải tiến → WGAN-GP</a:t>
            </a:r>
            <a:endParaRPr lang="vi-VN" sz="2400">
              <a:latin typeface="Times New Roman"/>
              <a:ea typeface="Lato"/>
              <a:cs typeface="Times New Roman"/>
            </a:endParaRPr>
          </a:p>
          <a:p>
            <a:pPr marL="457200" lvl="1" indent="0" algn="just">
              <a:buNone/>
              <a:defRPr sz="1800"/>
            </a:pPr>
            <a:r>
              <a:rPr lang="vi-VN">
                <a:latin typeface="Times New Roman"/>
                <a:ea typeface="Lato"/>
                <a:cs typeface="Times New Roman"/>
              </a:rPr>
              <a:t>- Thay hàm mất mát bằng khoảng cách </a:t>
            </a:r>
            <a:r>
              <a:rPr lang="vi-VN" err="1">
                <a:latin typeface="Times New Roman"/>
                <a:ea typeface="Lato"/>
                <a:cs typeface="Times New Roman"/>
              </a:rPr>
              <a:t>Wasserstein</a:t>
            </a:r>
            <a:endParaRPr lang="vi-VN">
              <a:latin typeface="Times New Roman"/>
              <a:ea typeface="Lato"/>
              <a:cs typeface="Times New Roman"/>
            </a:endParaRPr>
          </a:p>
          <a:p>
            <a:pPr marL="457200" lvl="1" indent="0" algn="just">
              <a:buNone/>
              <a:defRPr sz="1800"/>
            </a:pPr>
            <a:r>
              <a:rPr lang="vi-VN">
                <a:latin typeface="Times New Roman"/>
                <a:ea typeface="Lato"/>
                <a:cs typeface="Times New Roman"/>
              </a:rPr>
              <a:t>- Ổn định hơn, giảm </a:t>
            </a:r>
            <a:r>
              <a:rPr lang="vi-VN" err="1">
                <a:latin typeface="Times New Roman"/>
                <a:ea typeface="Lato"/>
                <a:cs typeface="Times New Roman"/>
              </a:rPr>
              <a:t>mode</a:t>
            </a:r>
            <a:r>
              <a:rPr lang="vi-VN">
                <a:latin typeface="Times New Roman"/>
                <a:ea typeface="Lato"/>
                <a:cs typeface="Times New Roman"/>
              </a:rPr>
              <a:t> </a:t>
            </a:r>
            <a:r>
              <a:rPr lang="vi-VN" err="1">
                <a:latin typeface="Times New Roman"/>
                <a:ea typeface="Lato"/>
                <a:cs typeface="Times New Roman"/>
              </a:rPr>
              <a:t>collapse</a:t>
            </a:r>
            <a:endParaRPr lang="vi-VN">
              <a:latin typeface="Times New Roman"/>
              <a:ea typeface="Lato"/>
              <a:cs typeface="Times New Roman"/>
            </a:endParaRPr>
          </a:p>
          <a:p>
            <a:pPr marL="457200" lvl="1" indent="0" algn="just">
              <a:buNone/>
              <a:defRPr sz="1800"/>
            </a:pPr>
            <a:r>
              <a:rPr lang="vi-VN">
                <a:latin typeface="Times New Roman"/>
                <a:ea typeface="Lato"/>
                <a:cs typeface="Times New Roman"/>
              </a:rPr>
              <a:t> → huấn luyện hiệu quả hơn</a:t>
            </a:r>
          </a:p>
          <a:p>
            <a:pPr algn="just"/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11</a:t>
            </a:fld>
            <a:endParaRPr lang="en-US">
              <a:latin typeface="Times New Roman"/>
              <a:cs typeface="Times New Roman"/>
            </a:endParaRPr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25B6E443-1951-3C88-BC26-7EDD3FFE3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84" r="-168" b="-273"/>
          <a:stretch>
            <a:fillRect/>
          </a:stretch>
        </p:blipFill>
        <p:spPr>
          <a:xfrm>
            <a:off x="1543926" y="2699890"/>
            <a:ext cx="5725378" cy="3275763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6D88AF1E-35B4-2C42-3870-A8F20484E2A3}"/>
              </a:ext>
            </a:extLst>
          </p:cNvPr>
          <p:cNvSpPr txBox="1"/>
          <p:nvPr/>
        </p:nvSpPr>
        <p:spPr>
          <a:xfrm>
            <a:off x="2836936" y="5983772"/>
            <a:ext cx="44457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000" b="1" i="1">
                <a:latin typeface="Times New Roman"/>
                <a:ea typeface="Lato"/>
                <a:cs typeface="Times New Roman"/>
              </a:rPr>
              <a:t>Hình 2.5 Kiến trúc mạng WGAN</a:t>
            </a:r>
            <a:r>
              <a:rPr lang="vi-VN" sz="2000">
                <a:latin typeface="Times New Roman"/>
                <a:ea typeface="Lato"/>
                <a:cs typeface="Times New Roman"/>
              </a:rPr>
              <a:t>​</a:t>
            </a:r>
            <a:r>
              <a:rPr lang="vi-VN" sz="2000" b="1" i="1">
                <a:latin typeface="Times New Roman"/>
                <a:ea typeface="Lato"/>
                <a:cs typeface="Times New Roman"/>
              </a:rPr>
              <a:t>-GP [4]</a:t>
            </a:r>
            <a:endParaRPr lang="vi-VN" sz="2000" b="1" i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otary_with_raumplan">
            <a:extLst>
              <a:ext uri="{FF2B5EF4-FFF2-40B4-BE49-F238E27FC236}">
                <a16:creationId xmlns:a16="http://schemas.microsoft.com/office/drawing/2014/main" id="{5D14CCFA-B1E0-2203-F5FB-4E3537E44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18" y="4412161"/>
            <a:ext cx="3931162" cy="1736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Chương 3: Thiết kế và triển khai hệ thống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3482" y="860254"/>
            <a:ext cx="4743817" cy="4418291"/>
          </a:xfrm>
        </p:spPr>
        <p:txBody>
          <a:bodyPr lIns="91440" tIns="45720" rIns="91440" bIns="45720" anchor="t"/>
          <a:lstStyle/>
          <a:p>
            <a:pPr algn="just" fontAlgn="base"/>
            <a:r>
              <a:rPr lang="vi-VN" sz="2000" b="1" err="1">
                <a:latin typeface="Times New Roman"/>
                <a:ea typeface="Lato"/>
                <a:cs typeface="Times New Roman"/>
              </a:rPr>
              <a:t>Dataset</a:t>
            </a:r>
            <a:r>
              <a:rPr lang="vi-VN" sz="2000" b="1">
                <a:latin typeface="Times New Roman"/>
                <a:ea typeface="Lato"/>
                <a:cs typeface="Times New Roman"/>
              </a:rPr>
              <a:t> SISO</a:t>
            </a:r>
            <a:endParaRPr lang="en-US" sz="2000" b="1">
              <a:latin typeface="Times New Roman"/>
              <a:ea typeface="Lato"/>
              <a:cs typeface="Times New Roman"/>
            </a:endParaRP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Kịch bản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indoor</a:t>
            </a:r>
            <a:r>
              <a:rPr lang="vi-VN" sz="2000">
                <a:latin typeface="Times New Roman"/>
                <a:ea typeface="Lato"/>
                <a:cs typeface="Times New Roman"/>
              </a:rPr>
              <a:t> (phòng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lab</a:t>
            </a:r>
            <a:r>
              <a:rPr lang="vi-VN" sz="2000">
                <a:latin typeface="Times New Roman"/>
                <a:ea typeface="Lato"/>
                <a:cs typeface="Times New Roman"/>
              </a:rPr>
              <a:t>)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Sử dụng hệ thống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anten</a:t>
            </a:r>
            <a:r>
              <a:rPr lang="vi-VN" sz="2000">
                <a:latin typeface="Times New Roman"/>
                <a:ea typeface="Lato"/>
                <a:cs typeface="Times New Roman"/>
              </a:rPr>
              <a:t> phát quay tròn và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anten</a:t>
            </a:r>
            <a:r>
              <a:rPr lang="vi-VN" sz="2000">
                <a:latin typeface="Times New Roman"/>
                <a:ea typeface="Lato"/>
                <a:cs typeface="Times New Roman"/>
              </a:rPr>
              <a:t> thu cố định (cách nhau 10m)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algn="just" fontAlgn="base"/>
            <a:r>
              <a:rPr lang="vi-VN" sz="2000" b="1">
                <a:latin typeface="Times New Roman"/>
                <a:ea typeface="Lato"/>
                <a:cs typeface="Times New Roman"/>
              </a:rPr>
              <a:t>Thông số đo đạc:</a:t>
            </a:r>
            <a:r>
              <a:rPr lang="en-US" sz="2000" b="1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Tần số: 5.9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GHz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Vận tốc quay: 20km/h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- 1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anten</a:t>
            </a:r>
            <a:r>
              <a:rPr lang="vi-VN" sz="2000">
                <a:latin typeface="Times New Roman"/>
                <a:ea typeface="Lato"/>
                <a:cs typeface="Times New Roman"/>
              </a:rPr>
              <a:t> phát, 1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anten</a:t>
            </a:r>
            <a:r>
              <a:rPr lang="vi-VN" sz="2000">
                <a:latin typeface="Times New Roman"/>
                <a:ea typeface="Lato"/>
                <a:cs typeface="Times New Roman"/>
              </a:rPr>
              <a:t> thu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Dữ liệu là CIR H(t,</a:t>
            </a:r>
            <a:r>
              <a:rPr lang="el-GR" sz="2000" b="1">
                <a:latin typeface="Times New Roman"/>
                <a:ea typeface="Lato"/>
                <a:cs typeface="Times New Roman"/>
              </a:rPr>
              <a:t> τ</a:t>
            </a:r>
            <a:r>
              <a:rPr lang="vi-VN" sz="2000">
                <a:latin typeface="Times New Roman"/>
                <a:ea typeface="Lato"/>
                <a:cs typeface="Times New Roman"/>
              </a:rPr>
              <a:t>) dạng số phức với kích thước (500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sample</a:t>
            </a:r>
            <a:r>
              <a:rPr lang="vi-VN" sz="2000">
                <a:latin typeface="Times New Roman"/>
                <a:ea typeface="Lato"/>
                <a:cs typeface="Times New Roman"/>
              </a:rPr>
              <a:t>, 1000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tap</a:t>
            </a:r>
            <a:r>
              <a:rPr lang="vi-VN" sz="2000">
                <a:latin typeface="Times New Roman"/>
                <a:ea typeface="Lato"/>
                <a:cs typeface="Times New Roman"/>
              </a:rPr>
              <a:t>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delay</a:t>
            </a:r>
            <a:r>
              <a:rPr lang="vi-VN" sz="2000">
                <a:latin typeface="Times New Roman"/>
                <a:ea typeface="Lato"/>
                <a:cs typeface="Times New Roman"/>
              </a:rPr>
              <a:t>)</a:t>
            </a:r>
            <a:endParaRPr lang="en-US" sz="2000">
              <a:latin typeface="Times New Roman"/>
              <a:ea typeface="Lato"/>
              <a:cs typeface="Times New Roman"/>
            </a:endParaRPr>
          </a:p>
          <a:p>
            <a:pPr algn="just"/>
            <a:endParaRPr lang="en-US" sz="2000" b="1">
              <a:latin typeface="Times New Roman"/>
              <a:cs typeface="Times New Roman"/>
            </a:endParaRPr>
          </a:p>
        </p:txBody>
      </p:sp>
      <p:sp>
        <p:nvSpPr>
          <p:cNvPr id="5" name="Chỗ dành sẵn cho Nội dung 4">
            <a:extLst>
              <a:ext uri="{FF2B5EF4-FFF2-40B4-BE49-F238E27FC236}">
                <a16:creationId xmlns:a16="http://schemas.microsoft.com/office/drawing/2014/main" id="{E223E328-D910-8611-688E-D5FD76D1E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14955" y="860252"/>
            <a:ext cx="4331049" cy="3178880"/>
          </a:xfrm>
        </p:spPr>
        <p:txBody>
          <a:bodyPr lIns="91440" tIns="45720" rIns="91440" bIns="45720" anchor="t"/>
          <a:lstStyle/>
          <a:p>
            <a:pPr algn="just"/>
            <a:r>
              <a:rPr lang="vi-VN" sz="2000" b="1" err="1">
                <a:latin typeface="Times New Roman"/>
                <a:ea typeface="Lato"/>
                <a:cs typeface="Times New Roman"/>
              </a:rPr>
              <a:t>Dataset</a:t>
            </a:r>
            <a:r>
              <a:rPr lang="vi-VN" sz="2000" b="1">
                <a:latin typeface="Times New Roman"/>
                <a:ea typeface="Lato"/>
                <a:cs typeface="Times New Roman"/>
              </a:rPr>
              <a:t> MIMO</a:t>
            </a:r>
            <a:endParaRPr lang="vi-VN">
              <a:latin typeface="Times New Roman"/>
              <a:cs typeface="Times New Roman"/>
            </a:endParaRP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Dataset</a:t>
            </a:r>
            <a:r>
              <a:rPr lang="vi-VN" sz="2000">
                <a:latin typeface="Times New Roman"/>
                <a:ea typeface="Lato"/>
                <a:cs typeface="Times New Roman"/>
              </a:rPr>
              <a:t> của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Wireless</a:t>
            </a:r>
            <a:r>
              <a:rPr lang="vi-VN" sz="2000">
                <a:latin typeface="Times New Roman"/>
                <a:ea typeface="Lato"/>
                <a:cs typeface="Times New Roman"/>
              </a:rPr>
              <a:t>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Intelligence</a:t>
            </a:r>
            <a:r>
              <a:rPr lang="vi-VN" sz="2000">
                <a:latin typeface="Times New Roman"/>
                <a:ea typeface="Lato"/>
                <a:cs typeface="Times New Roman"/>
              </a:rPr>
              <a:t>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Channel</a:t>
            </a:r>
            <a:r>
              <a:rPr lang="vi-VN" sz="2000">
                <a:latin typeface="Times New Roman"/>
                <a:ea typeface="Lato"/>
                <a:cs typeface="Times New Roman"/>
              </a:rPr>
              <a:t>.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  <a:r>
              <a:rPr lang="vi-VN" sz="2000">
                <a:latin typeface="Times New Roman"/>
                <a:ea typeface="Lato"/>
                <a:cs typeface="Times New Roman"/>
              </a:rPr>
              <a:t> Đo trên mạng 5G thương mại tại đại học ở Bắc Kinh.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algn="just" fontAlgn="base"/>
            <a:r>
              <a:rPr lang="vi-VN" sz="2000" b="1">
                <a:latin typeface="Times New Roman"/>
                <a:ea typeface="Lato"/>
                <a:cs typeface="Times New Roman"/>
              </a:rPr>
              <a:t>Thông số đo đạc:</a:t>
            </a:r>
            <a:r>
              <a:rPr lang="en-US" sz="2000" b="1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- 3 trạm gốc, mỗi trạm 8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anten</a:t>
            </a:r>
            <a:r>
              <a:rPr lang="vi-VN" sz="2000">
                <a:latin typeface="Times New Roman"/>
                <a:ea typeface="Lato"/>
                <a:cs typeface="Times New Roman"/>
              </a:rPr>
              <a:t> TX .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Thiết bị thu (UE) có 4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anten</a:t>
            </a:r>
            <a:r>
              <a:rPr lang="vi-VN" sz="2000">
                <a:latin typeface="Times New Roman"/>
                <a:ea typeface="Lato"/>
                <a:cs typeface="Times New Roman"/>
              </a:rPr>
              <a:t> RX.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Tần số 2.565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GHz</a:t>
            </a:r>
            <a:r>
              <a:rPr lang="vi-VN" sz="2000">
                <a:latin typeface="Times New Roman"/>
                <a:ea typeface="Lato"/>
                <a:cs typeface="Times New Roman"/>
              </a:rPr>
              <a:t>.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- Tuyến đo dài 1.8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km</a:t>
            </a:r>
            <a:r>
              <a:rPr lang="vi-VN" sz="2000">
                <a:latin typeface="Times New Roman"/>
                <a:ea typeface="Lato"/>
                <a:cs typeface="Times New Roman"/>
              </a:rPr>
              <a:t> (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LoS</a:t>
            </a:r>
            <a:r>
              <a:rPr lang="vi-VN" sz="2000">
                <a:latin typeface="Times New Roman"/>
                <a:ea typeface="Lato"/>
                <a:cs typeface="Times New Roman"/>
              </a:rPr>
              <a:t> &amp; </a:t>
            </a:r>
            <a:r>
              <a:rPr lang="vi-VN" sz="2000" err="1">
                <a:latin typeface="Times New Roman"/>
                <a:ea typeface="Lato"/>
                <a:cs typeface="Times New Roman"/>
              </a:rPr>
              <a:t>NLoS</a:t>
            </a:r>
            <a:r>
              <a:rPr lang="vi-VN" sz="2000">
                <a:latin typeface="Times New Roman"/>
                <a:ea typeface="Lato"/>
                <a:cs typeface="Times New Roman"/>
              </a:rPr>
              <a:t>).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algn="just" fontAlgn="base"/>
            <a:r>
              <a:rPr lang="vi-VN" sz="2000">
                <a:latin typeface="Times New Roman"/>
                <a:ea typeface="Lato"/>
                <a:cs typeface="Times New Roman"/>
              </a:rPr>
              <a:t>Dữ liệu đầu vào: ​</a:t>
            </a:r>
          </a:p>
          <a:p>
            <a:pPr marL="0" indent="0" algn="just" fontAlgn="base">
              <a:buNone/>
            </a:pPr>
            <a:r>
              <a:rPr lang="vi-VN" sz="2000">
                <a:latin typeface="Times New Roman"/>
                <a:ea typeface="Lato"/>
                <a:cs typeface="Times New Roman"/>
              </a:rPr>
              <a:t>​</a:t>
            </a:r>
          </a:p>
          <a:p>
            <a:pPr algn="just"/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12</a:t>
            </a:fld>
            <a:endParaRPr lang="en-US">
              <a:latin typeface="Times New Roman"/>
              <a:cs typeface="Times New Roman"/>
            </a:endParaRPr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261F716F-D58D-76FC-ECD5-C547F63D3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157" y="4525812"/>
            <a:ext cx="2067213" cy="381053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F2D2A24C-FB34-EE3A-5E81-83071A23B35F}"/>
              </a:ext>
            </a:extLst>
          </p:cNvPr>
          <p:cNvSpPr txBox="1"/>
          <p:nvPr/>
        </p:nvSpPr>
        <p:spPr>
          <a:xfrm>
            <a:off x="5473100" y="5023566"/>
            <a:ext cx="4833870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vi-VN" sz="2000" b="0" i="1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Ns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: số mẫu thời gian</a:t>
            </a:r>
            <a:endParaRPr lang="vi-VN">
              <a:latin typeface="Times New Roman"/>
              <a:cs typeface="Times New Roman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vi-VN" sz="2000" b="0" i="1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Nt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: số </a:t>
            </a:r>
            <a:r>
              <a:rPr lang="vi-VN" sz="2000" b="0" i="0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anten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phát</a:t>
            </a:r>
            <a:endParaRPr lang="vi-VN" sz="2000">
              <a:solidFill>
                <a:srgbClr val="000000"/>
              </a:solidFill>
              <a:latin typeface="Times New Roman"/>
              <a:ea typeface="Lato"/>
              <a:cs typeface="Times New Roman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vi-VN" sz="2000" b="0" i="1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Nr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: số </a:t>
            </a:r>
            <a:r>
              <a:rPr lang="vi-VN" sz="2000" b="0" i="0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anten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thu</a:t>
            </a:r>
            <a:endParaRPr lang="vi-VN" sz="2000">
              <a:solidFill>
                <a:srgbClr val="000000"/>
              </a:solidFill>
              <a:latin typeface="Times New Roman"/>
              <a:ea typeface="Lato"/>
              <a:cs typeface="Times New Roman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vi-VN" sz="2000" b="0" i="1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Nd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: số </a:t>
            </a:r>
            <a:r>
              <a:rPr lang="vi-VN" sz="2000" b="0" i="0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tap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</a:t>
            </a:r>
            <a:r>
              <a:rPr lang="vi-VN" sz="2000" b="0" i="0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delay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</a:t>
            </a:r>
            <a:endParaRPr lang="vi-VN" sz="2000">
              <a:solidFill>
                <a:srgbClr val="000000"/>
              </a:solidFill>
              <a:latin typeface="Times New Roman"/>
              <a:ea typeface="Lato"/>
              <a:cs typeface="Times New Roman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A840AD3-FD85-2F45-CAB1-F80894BA1ABA}"/>
              </a:ext>
            </a:extLst>
          </p:cNvPr>
          <p:cNvSpPr txBox="1"/>
          <p:nvPr/>
        </p:nvSpPr>
        <p:spPr>
          <a:xfrm>
            <a:off x="1466726" y="6155592"/>
            <a:ext cx="483790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ea typeface="Lato"/>
                <a:cs typeface="Times New Roman"/>
              </a:rPr>
              <a:t>Hình 2.6 Bố trí </a:t>
            </a:r>
            <a:r>
              <a:rPr lang="vi-VN" sz="1600" b="1" i="1" err="1">
                <a:latin typeface="Times New Roman"/>
                <a:ea typeface="Lato"/>
                <a:cs typeface="Times New Roman"/>
              </a:rPr>
              <a:t>anten</a:t>
            </a:r>
            <a:r>
              <a:rPr lang="vi-VN" sz="1600" b="1" i="1">
                <a:latin typeface="Times New Roman"/>
                <a:ea typeface="Lato"/>
                <a:cs typeface="Times New Roman"/>
              </a:rPr>
              <a:t> thu phát </a:t>
            </a:r>
            <a:r>
              <a:rPr lang="vi-VN" sz="1600" b="1" i="1" err="1">
                <a:latin typeface="Times New Roman"/>
                <a:ea typeface="Lato"/>
                <a:cs typeface="Times New Roman"/>
              </a:rPr>
              <a:t>siso</a:t>
            </a:r>
            <a:r>
              <a:rPr lang="vi-VN" sz="1600" b="1" i="1">
                <a:latin typeface="Times New Roman"/>
                <a:ea typeface="Lato"/>
                <a:cs typeface="Times New Roman"/>
              </a:rPr>
              <a:t> [5]</a:t>
            </a:r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Hình ảnh 7">
            <a:extLst>
              <a:ext uri="{FF2B5EF4-FFF2-40B4-BE49-F238E27FC236}">
                <a16:creationId xmlns:a16="http://schemas.microsoft.com/office/drawing/2014/main" id="{A78FCFD6-DBAF-2382-ECA6-181D0C78E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75" r="-119" b="8863"/>
          <a:stretch>
            <a:fillRect/>
          </a:stretch>
        </p:blipFill>
        <p:spPr>
          <a:xfrm>
            <a:off x="438668" y="1069700"/>
            <a:ext cx="8262347" cy="4507724"/>
          </a:xfrm>
          <a:prstGeom prst="rect">
            <a:avLst/>
          </a:prstGeom>
        </p:spPr>
      </p:pic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EDA7845-47F4-C250-9A12-799F2805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13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F16A531-4340-E5F9-BA1D-D1814694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Kiến trúc mô hình WGAN-GP cho dữ liệu SISO</a:t>
            </a:r>
            <a:endParaRPr lang="vi-VN">
              <a:latin typeface="Times New Roman"/>
              <a:cs typeface="Times New Roman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B1DAC09-1E94-F259-2A05-6B9A41612E1F}"/>
              </a:ext>
            </a:extLst>
          </p:cNvPr>
          <p:cNvSpPr txBox="1"/>
          <p:nvPr/>
        </p:nvSpPr>
        <p:spPr>
          <a:xfrm>
            <a:off x="2131744" y="5624177"/>
            <a:ext cx="59282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000" b="1" i="1">
                <a:latin typeface="Times New Roman"/>
                <a:ea typeface="Lato"/>
                <a:cs typeface="Times New Roman"/>
              </a:rPr>
              <a:t>Hình 2.7 Mô hình WGAN-GP cho dữ liệu SISO</a:t>
            </a:r>
          </a:p>
        </p:txBody>
      </p:sp>
    </p:spTree>
    <p:extLst>
      <p:ext uri="{BB962C8B-B14F-4D97-AF65-F5344CB8AC3E}">
        <p14:creationId xmlns:p14="http://schemas.microsoft.com/office/powerpoint/2010/main" val="2418175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8C6E-0630-8AE7-E71C-9E054E34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6715297F-1548-4042-D2AA-FBC937F0F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14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5BBEA33-095B-9E82-77E8-89248AD3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Kiến trúc mô hình WGAN-GP cho dữ liệu MIMO</a:t>
            </a:r>
            <a:endParaRPr lang="vi-VN" b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vi-VN">
              <a:latin typeface="Times New Roman"/>
              <a:cs typeface="Times New Roman"/>
            </a:endParaRPr>
          </a:p>
        </p:txBody>
      </p:sp>
      <p:pic>
        <p:nvPicPr>
          <p:cNvPr id="82" name="Hình ảnh 81">
            <a:extLst>
              <a:ext uri="{FF2B5EF4-FFF2-40B4-BE49-F238E27FC236}">
                <a16:creationId xmlns:a16="http://schemas.microsoft.com/office/drawing/2014/main" id="{6955C5CC-AB1A-2C38-7BF9-2620A45D14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4" t="6987" r="248"/>
          <a:stretch>
            <a:fillRect/>
          </a:stretch>
        </p:blipFill>
        <p:spPr>
          <a:xfrm>
            <a:off x="231192" y="1224858"/>
            <a:ext cx="8534605" cy="4517129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F05D9920-9E48-8B09-CC0B-8E5BE941531E}"/>
              </a:ext>
            </a:extLst>
          </p:cNvPr>
          <p:cNvSpPr txBox="1"/>
          <p:nvPr/>
        </p:nvSpPr>
        <p:spPr>
          <a:xfrm>
            <a:off x="2179568" y="5834603"/>
            <a:ext cx="59282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000" b="1" i="1">
                <a:latin typeface="Times New Roman"/>
                <a:ea typeface="Lato"/>
                <a:cs typeface="Times New Roman"/>
              </a:rPr>
              <a:t>Hình 2.8 Mô hình WGAN-GP cho dữ liệu MIMO</a:t>
            </a:r>
          </a:p>
        </p:txBody>
      </p:sp>
    </p:spTree>
    <p:extLst>
      <p:ext uri="{BB962C8B-B14F-4D97-AF65-F5344CB8AC3E}">
        <p14:creationId xmlns:p14="http://schemas.microsoft.com/office/powerpoint/2010/main" val="3495562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15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Tiêu đề 5">
            <a:extLst>
              <a:ext uri="{FF2B5EF4-FFF2-40B4-BE49-F238E27FC236}">
                <a16:creationId xmlns:a16="http://schemas.microsoft.com/office/drawing/2014/main" id="{D42C0FE7-60CD-BE9E-18FA-EF10851C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Chương 3: Thiết kế và triển khai hệ thống</a:t>
            </a:r>
            <a:endParaRPr lang="vi-VN">
              <a:latin typeface="Times New Roman"/>
              <a:cs typeface="Times New Roman"/>
            </a:endParaRPr>
          </a:p>
        </p:txBody>
      </p:sp>
      <p:pic>
        <p:nvPicPr>
          <p:cNvPr id="13" name="Hình ảnh 12" descr="Ảnh có chứa biểu đồ, Kế hoạch, văn bản, Bản vẽ kỹ thuật&#10;&#10;Nội dung do AI tạo ra có thể không chính xác.">
            <a:extLst>
              <a:ext uri="{FF2B5EF4-FFF2-40B4-BE49-F238E27FC236}">
                <a16:creationId xmlns:a16="http://schemas.microsoft.com/office/drawing/2014/main" id="{14034955-4FAC-5F1F-0F94-B36B0DD9F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63" y="1415718"/>
            <a:ext cx="8425689" cy="3686798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C51710F4-95AB-CDBD-9A2B-E85788343BFD}"/>
              </a:ext>
            </a:extLst>
          </p:cNvPr>
          <p:cNvSpPr txBox="1"/>
          <p:nvPr/>
        </p:nvSpPr>
        <p:spPr>
          <a:xfrm>
            <a:off x="1263424" y="5279679"/>
            <a:ext cx="739843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vi-VN" b="1" i="1">
                <a:solidFill>
                  <a:srgbClr val="000000"/>
                </a:solidFill>
                <a:latin typeface="Times New Roman"/>
                <a:ea typeface="Lato"/>
                <a:cs typeface="Times New Roman"/>
              </a:rPr>
              <a:t>Hình 3.1 Sơ</a:t>
            </a:r>
            <a:r>
              <a:rPr lang="vi-VN" b="1" i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đồ hệ thống truyền thông MIMO-OFDM sử dụng LDPC.</a:t>
            </a:r>
            <a:r>
              <a:rPr lang="vi-VN" i="1">
                <a:latin typeface="Times New Roman"/>
                <a:ea typeface="Lato"/>
                <a:cs typeface="Times New Roman"/>
              </a:rPr>
              <a:t> </a:t>
            </a:r>
            <a:br>
              <a:rPr lang="vi-VN" i="1">
                <a:latin typeface="Times New Roman"/>
                <a:ea typeface="Lato"/>
                <a:cs typeface="Times New Roman"/>
              </a:rPr>
            </a:br>
            <a:endParaRPr lang="en-US" i="1">
              <a:latin typeface="Times New Roman"/>
              <a:ea typeface="Lat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C925CC9-18CA-63F2-FCAC-F2A0EA0B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16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69AA3B0C-2529-5AB4-F0FC-F08630C1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Chương 4: Kết quả và đánh giá</a:t>
            </a:r>
            <a:endParaRPr lang="en-US">
              <a:latin typeface="Times New Roman"/>
              <a:ea typeface="Lato"/>
              <a:cs typeface="Times New Roman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BB8729B2-3D23-DD4A-E1A6-1DB04E2307EF}"/>
              </a:ext>
            </a:extLst>
          </p:cNvPr>
          <p:cNvSpPr txBox="1"/>
          <p:nvPr/>
        </p:nvSpPr>
        <p:spPr>
          <a:xfrm>
            <a:off x="110837" y="886692"/>
            <a:ext cx="578876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vi-VN" b="1">
                <a:latin typeface="Times New Roman"/>
                <a:ea typeface="Lato"/>
                <a:cs typeface="Times New Roman"/>
              </a:rPr>
              <a:t>4.1: Kết quả đo PDP cho hệ thống  SISO-</a:t>
            </a:r>
            <a:r>
              <a:rPr lang="vi-VN" b="1" err="1">
                <a:latin typeface="Times New Roman"/>
                <a:ea typeface="Lato"/>
                <a:cs typeface="Times New Roman"/>
              </a:rPr>
              <a:t>Coded</a:t>
            </a:r>
            <a:r>
              <a:rPr lang="vi-VN" b="1">
                <a:latin typeface="Times New Roman"/>
                <a:ea typeface="Lato"/>
                <a:cs typeface="Times New Roman"/>
              </a:rPr>
              <a:t> OFDM</a:t>
            </a:r>
            <a:endParaRPr lang="en-US" b="1">
              <a:latin typeface="Times New Roman"/>
              <a:ea typeface="Lato"/>
              <a:cs typeface="Times New Roman"/>
            </a:endParaRP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67133FE0-F9AE-1B22-1FC3-A9C5597EB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18" y="1368242"/>
            <a:ext cx="7407564" cy="3608340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769841F-CEBC-5AE5-1C0E-30F82779F79E}"/>
              </a:ext>
            </a:extLst>
          </p:cNvPr>
          <p:cNvSpPr txBox="1"/>
          <p:nvPr/>
        </p:nvSpPr>
        <p:spPr>
          <a:xfrm>
            <a:off x="526961" y="5088800"/>
            <a:ext cx="8214212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vi-VN" sz="2000" b="1" i="0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Power</a:t>
            </a:r>
            <a:r>
              <a:rPr lang="vi-VN" sz="2000" b="1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</a:t>
            </a:r>
            <a:r>
              <a:rPr lang="vi-VN" sz="2000" b="1" i="0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Delay</a:t>
            </a:r>
            <a:r>
              <a:rPr lang="vi-VN" sz="2000" b="1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</a:t>
            </a:r>
            <a:r>
              <a:rPr lang="vi-VN" sz="2000" b="1" i="0" err="1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Profile</a:t>
            </a:r>
            <a:r>
              <a:rPr lang="vi-VN" sz="2000" b="1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(PDP):</a:t>
            </a:r>
            <a:r>
              <a:rPr lang="vi-VN" sz="2000" b="0" i="0">
                <a:solidFill>
                  <a:srgbClr val="000000"/>
                </a:solidFill>
                <a:effectLst/>
                <a:latin typeface="Times New Roman"/>
                <a:ea typeface="Lato"/>
                <a:cs typeface="Times New Roman"/>
              </a:rPr>
              <a:t> các mô hình GAN đều có xu hướng tái hiện đúng đặc trưng phân bố công suất theo độ trễ. Trong đó, WGAN-GP cho kết quả mượt và gần khớp với dữ liệu đo nhất, cả về biên độ và hình dạng.</a:t>
            </a:r>
            <a:r>
              <a:rPr lang="vi-VN" sz="2000">
                <a:latin typeface="Times New Roman"/>
                <a:ea typeface="Lato"/>
                <a:cs typeface="Times New Roman"/>
              </a:rPr>
              <a:t> </a:t>
            </a:r>
            <a:br>
              <a:rPr lang="vi-VN" sz="2000">
                <a:latin typeface="Times New Roman"/>
                <a:ea typeface="Lato"/>
                <a:cs typeface="Times New Roman"/>
              </a:rPr>
            </a:br>
            <a:endParaRPr lang="en-US" sz="2000">
              <a:latin typeface="Times New Roman"/>
              <a:ea typeface="Lat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5333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610F5-84C2-0D89-DB3B-F0F29736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86302D4-5085-8957-4205-A9CD2E92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17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822B29F-457A-D3B2-EF57-E3849F03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Kết quả SISO</a:t>
            </a:r>
            <a:endParaRPr lang="en-US">
              <a:latin typeface="Times New Roman"/>
              <a:ea typeface="Lato"/>
              <a:cs typeface="Times New Roman"/>
            </a:endParaRP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EB51FE51-22EB-444C-BCB6-72670A4C05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01" r="266" b="2932"/>
          <a:stretch>
            <a:fillRect/>
          </a:stretch>
        </p:blipFill>
        <p:spPr>
          <a:xfrm>
            <a:off x="5448785" y="874749"/>
            <a:ext cx="3581230" cy="4940273"/>
          </a:xfrm>
          <a:prstGeom prst="rect">
            <a:avLst/>
          </a:prstGeom>
        </p:spPr>
      </p:pic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10D110E-2448-68D3-11A3-C8509876713A}"/>
              </a:ext>
            </a:extLst>
          </p:cNvPr>
          <p:cNvSpPr txBox="1"/>
          <p:nvPr/>
        </p:nvSpPr>
        <p:spPr>
          <a:xfrm>
            <a:off x="110733" y="873430"/>
            <a:ext cx="4965981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buNone/>
            </a:pPr>
            <a:r>
              <a:rPr lang="en-US" b="1">
                <a:latin typeface="Times New Roman"/>
                <a:cs typeface="Times New Roman"/>
              </a:rPr>
              <a:t>📊 </a:t>
            </a:r>
            <a:r>
              <a:rPr lang="vi-VN" b="1">
                <a:latin typeface="Times New Roman"/>
                <a:cs typeface="Times New Roman"/>
              </a:rPr>
              <a:t>PDF – </a:t>
            </a:r>
            <a:r>
              <a:rPr lang="vi-VN" b="1" err="1">
                <a:latin typeface="Times New Roman"/>
                <a:cs typeface="Times New Roman"/>
              </a:rPr>
              <a:t>Probability</a:t>
            </a:r>
            <a:r>
              <a:rPr lang="vi-VN" b="1">
                <a:latin typeface="Times New Roman"/>
                <a:cs typeface="Times New Roman"/>
              </a:rPr>
              <a:t> </a:t>
            </a:r>
            <a:r>
              <a:rPr lang="vi-VN" b="1" err="1">
                <a:latin typeface="Times New Roman"/>
                <a:cs typeface="Times New Roman"/>
              </a:rPr>
              <a:t>Density</a:t>
            </a:r>
            <a:r>
              <a:rPr lang="vi-VN" b="1">
                <a:latin typeface="Times New Roman"/>
                <a:cs typeface="Times New Roman"/>
              </a:rPr>
              <a:t> </a:t>
            </a:r>
            <a:r>
              <a:rPr lang="vi-VN" b="1" err="1">
                <a:latin typeface="Times New Roman"/>
                <a:cs typeface="Times New Roman"/>
              </a:rPr>
              <a:t>Function</a:t>
            </a:r>
            <a:r>
              <a:rPr lang="vi-VN" b="1">
                <a:latin typeface="Times New Roman"/>
                <a:cs typeface="Times New Roman"/>
              </a:rPr>
              <a:t>:</a:t>
            </a:r>
            <a:endParaRPr lang="vi-VN"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vi-VN">
                <a:latin typeface="Times New Roman"/>
                <a:cs typeface="Times New Roman"/>
              </a:rPr>
              <a:t>WGAN-GP (đỏ):</a:t>
            </a:r>
          </a:p>
          <a:p>
            <a:pPr lvl="1" algn="just"/>
            <a:r>
              <a:rPr lang="vi-VN">
                <a:latin typeface="Times New Roman"/>
                <a:cs typeface="Times New Roman"/>
              </a:rPr>
              <a:t>- Đỉnh gần với dữ liệu đo. Phân phối hẹp, mô phỏng tốt dữ liệu thực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>
                <a:latin typeface="Times New Roman"/>
                <a:cs typeface="Times New Roman"/>
              </a:rPr>
              <a:t>VAE-WGAN (xanh lam):</a:t>
            </a:r>
          </a:p>
          <a:p>
            <a:pPr lvl="1" algn="just"/>
            <a:r>
              <a:rPr lang="vi-VN">
                <a:latin typeface="Times New Roman"/>
                <a:cs typeface="Times New Roman"/>
              </a:rPr>
              <a:t>- Phân phối rộng, đỉnh thấp. Đa dạng nhưng chưa bám sát đỉnh thực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>
                <a:latin typeface="Times New Roman"/>
                <a:cs typeface="Times New Roman"/>
              </a:rPr>
              <a:t>GAN (xanh lục):</a:t>
            </a:r>
          </a:p>
          <a:p>
            <a:pPr lvl="1" algn="just"/>
            <a:r>
              <a:rPr lang="vi-VN">
                <a:latin typeface="Times New Roman"/>
                <a:cs typeface="Times New Roman"/>
              </a:rPr>
              <a:t>- Đỉnh lệch phải. Dạng phân phối nhiễu </a:t>
            </a:r>
          </a:p>
          <a:p>
            <a:pPr lvl="1" algn="just"/>
            <a:r>
              <a:rPr lang="vi-VN">
                <a:latin typeface="Times New Roman"/>
                <a:cs typeface="Times New Roman"/>
              </a:rPr>
              <a:t>→ học kém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743C5BE-00B5-5C7E-9363-B8BE20BCC10D}"/>
              </a:ext>
            </a:extLst>
          </p:cNvPr>
          <p:cNvSpPr txBox="1"/>
          <p:nvPr/>
        </p:nvSpPr>
        <p:spPr>
          <a:xfrm>
            <a:off x="-3941" y="3670641"/>
            <a:ext cx="5565206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buNone/>
            </a:pPr>
            <a:r>
              <a:rPr lang="en-US" b="1">
                <a:latin typeface="Times New Roman"/>
                <a:cs typeface="Times New Roman"/>
              </a:rPr>
              <a:t>📈 </a:t>
            </a:r>
            <a:r>
              <a:rPr lang="vi-VN" b="1">
                <a:latin typeface="Times New Roman"/>
                <a:cs typeface="Times New Roman"/>
              </a:rPr>
              <a:t>CDF – </a:t>
            </a:r>
            <a:r>
              <a:rPr lang="vi-VN" b="1" err="1">
                <a:latin typeface="Times New Roman"/>
                <a:cs typeface="Times New Roman"/>
              </a:rPr>
              <a:t>Cumulative</a:t>
            </a:r>
            <a:r>
              <a:rPr lang="vi-VN" b="1">
                <a:latin typeface="Times New Roman"/>
                <a:cs typeface="Times New Roman"/>
              </a:rPr>
              <a:t> </a:t>
            </a:r>
            <a:r>
              <a:rPr lang="vi-VN" b="1" err="1">
                <a:latin typeface="Times New Roman"/>
                <a:cs typeface="Times New Roman"/>
              </a:rPr>
              <a:t>Distribution</a:t>
            </a:r>
            <a:r>
              <a:rPr lang="vi-VN" b="1">
                <a:latin typeface="Times New Roman"/>
                <a:cs typeface="Times New Roman"/>
              </a:rPr>
              <a:t> </a:t>
            </a:r>
            <a:r>
              <a:rPr lang="vi-VN" b="1" err="1">
                <a:latin typeface="Times New Roman"/>
                <a:cs typeface="Times New Roman"/>
              </a:rPr>
              <a:t>Function</a:t>
            </a:r>
            <a:r>
              <a:rPr lang="vi-VN" b="1">
                <a:latin typeface="Times New Roman"/>
                <a:cs typeface="Times New Roman"/>
              </a:rPr>
              <a:t>:</a:t>
            </a:r>
            <a:endParaRPr lang="vi-VN"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vi-VN">
                <a:latin typeface="Times New Roman"/>
                <a:cs typeface="Times New Roman"/>
              </a:rPr>
              <a:t>WGAN-GP (xanh lá, nét đứt):</a:t>
            </a:r>
          </a:p>
          <a:p>
            <a:pPr lvl="1" algn="just"/>
            <a:r>
              <a:rPr lang="vi-VN">
                <a:latin typeface="Times New Roman"/>
                <a:cs typeface="Times New Roman"/>
              </a:rPr>
              <a:t>- Tiệm cận đường đo thực tốt nhất. Thể hiện khả năng học phân phối tổng quát tốt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>
                <a:latin typeface="Times New Roman"/>
                <a:cs typeface="Times New Roman"/>
              </a:rPr>
              <a:t>VAE-WGAN (tím, chấm gạch):</a:t>
            </a:r>
          </a:p>
          <a:p>
            <a:pPr lvl="1" algn="just"/>
            <a:r>
              <a:rPr lang="vi-VN">
                <a:latin typeface="Times New Roman"/>
                <a:cs typeface="Times New Roman"/>
              </a:rPr>
              <a:t>- Trung gian giữa GAN và WGAN-GP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>
                <a:latin typeface="Times New Roman"/>
                <a:cs typeface="Times New Roman"/>
              </a:rPr>
              <a:t>GAN (cam, chấm đứt):</a:t>
            </a:r>
          </a:p>
          <a:p>
            <a:pPr lvl="1" algn="just"/>
            <a:r>
              <a:rPr lang="vi-VN">
                <a:latin typeface="Times New Roman"/>
                <a:cs typeface="Times New Roman"/>
              </a:rPr>
              <a:t>- Độ dốc không khớp, lệch rõ rệt. Cho thấy phân phối bị lệch nhiều → không chính xác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3EE3546F-A3B8-E246-6744-9C6D85E6A64F}"/>
              </a:ext>
            </a:extLst>
          </p:cNvPr>
          <p:cNvSpPr txBox="1"/>
          <p:nvPr/>
        </p:nvSpPr>
        <p:spPr>
          <a:xfrm>
            <a:off x="6528886" y="3184590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ea typeface="Lato"/>
                <a:cs typeface="Times New Roman"/>
              </a:rPr>
              <a:t>PDF </a:t>
            </a:r>
            <a:r>
              <a:rPr lang="vi-VN" sz="1600" b="1" i="1" err="1">
                <a:latin typeface="Times New Roman"/>
                <a:ea typeface="Lato"/>
                <a:cs typeface="Times New Roman"/>
              </a:rPr>
              <a:t>Comparisons</a:t>
            </a:r>
            <a:endParaRPr lang="vi-VN" sz="1600" b="1" i="1">
              <a:latin typeface="Times New Roman"/>
              <a:ea typeface="Lato"/>
              <a:cs typeface="Times New Roman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9A43D163-8102-66C6-B0A0-4AC8EAE43CC1}"/>
              </a:ext>
            </a:extLst>
          </p:cNvPr>
          <p:cNvSpPr txBox="1"/>
          <p:nvPr/>
        </p:nvSpPr>
        <p:spPr>
          <a:xfrm>
            <a:off x="6528885" y="5805359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ea typeface="Lato"/>
                <a:cs typeface="Times New Roman"/>
              </a:rPr>
              <a:t>CDF </a:t>
            </a:r>
            <a:r>
              <a:rPr lang="vi-VN" sz="1600" b="1" i="1" err="1">
                <a:latin typeface="Times New Roman"/>
                <a:ea typeface="Lato"/>
                <a:cs typeface="Times New Roman"/>
              </a:rPr>
              <a:t>Comparisons</a:t>
            </a:r>
            <a:endParaRPr lang="vi-VN" sz="1600" b="1" i="1">
              <a:latin typeface="Times New Roman"/>
              <a:ea typeface="Lat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3697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983D-B56A-1C46-B690-CF6A84C7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799A611-E893-6760-137D-4572D3EB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18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2C58B937-937E-8858-C5B3-1422B79A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Kết quả SISO</a:t>
            </a:r>
            <a:endParaRPr lang="vi-VN">
              <a:latin typeface="Times New Roman"/>
              <a:cs typeface="Times New Roman"/>
            </a:endParaRPr>
          </a:p>
        </p:txBody>
      </p:sp>
      <p:grpSp>
        <p:nvGrpSpPr>
          <p:cNvPr id="5" name="Nhóm 4">
            <a:extLst>
              <a:ext uri="{FF2B5EF4-FFF2-40B4-BE49-F238E27FC236}">
                <a16:creationId xmlns:a16="http://schemas.microsoft.com/office/drawing/2014/main" id="{666ED7F4-0612-302C-FEB7-FF4BDDFF6AE9}"/>
              </a:ext>
            </a:extLst>
          </p:cNvPr>
          <p:cNvGrpSpPr/>
          <p:nvPr/>
        </p:nvGrpSpPr>
        <p:grpSpPr>
          <a:xfrm>
            <a:off x="630449" y="959513"/>
            <a:ext cx="7554905" cy="4473350"/>
            <a:chOff x="601754" y="892559"/>
            <a:chExt cx="7554905" cy="4722036"/>
          </a:xfrm>
        </p:grpSpPr>
        <p:pic>
          <p:nvPicPr>
            <p:cNvPr id="8" name="Hình ảnh 7">
              <a:extLst>
                <a:ext uri="{FF2B5EF4-FFF2-40B4-BE49-F238E27FC236}">
                  <a16:creationId xmlns:a16="http://schemas.microsoft.com/office/drawing/2014/main" id="{531C271A-722E-3108-8DD1-0077CEB08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591"/>
            <a:stretch>
              <a:fillRect/>
            </a:stretch>
          </p:blipFill>
          <p:spPr>
            <a:xfrm>
              <a:off x="601754" y="892559"/>
              <a:ext cx="7554905" cy="4722036"/>
            </a:xfrm>
            <a:prstGeom prst="rect">
              <a:avLst/>
            </a:prstGeom>
          </p:spPr>
        </p:pic>
        <p:sp>
          <p:nvSpPr>
            <p:cNvPr id="4" name="Hình chữ nhật 3">
              <a:extLst>
                <a:ext uri="{FF2B5EF4-FFF2-40B4-BE49-F238E27FC236}">
                  <a16:creationId xmlns:a16="http://schemas.microsoft.com/office/drawing/2014/main" id="{71C302A1-DA09-4BBE-D2F1-F1CE8DD02974}"/>
                </a:ext>
              </a:extLst>
            </p:cNvPr>
            <p:cNvSpPr/>
            <p:nvPr/>
          </p:nvSpPr>
          <p:spPr>
            <a:xfrm>
              <a:off x="1692519" y="3055326"/>
              <a:ext cx="1725490" cy="2307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latin typeface="Times New Roman"/>
                <a:cs typeface="Times New Roman"/>
              </a:endParaRPr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FA9FA7E5-C967-1BC7-181B-4BD1B003C540}"/>
              </a:ext>
            </a:extLst>
          </p:cNvPr>
          <p:cNvSpPr txBox="1"/>
          <p:nvPr/>
        </p:nvSpPr>
        <p:spPr>
          <a:xfrm>
            <a:off x="3707337" y="2865630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ea typeface="Lato"/>
                <a:cs typeface="Times New Roman"/>
              </a:rPr>
              <a:t>PDF Comparisons</a:t>
            </a:r>
            <a:r>
              <a:rPr lang="vi-VN" sz="1600">
                <a:latin typeface="Times New Roman"/>
                <a:ea typeface="Lato"/>
                <a:cs typeface="Times New Roman"/>
              </a:rPr>
              <a:t>​</a:t>
            </a:r>
            <a:endParaRPr lang="vi-VN">
              <a:latin typeface="Times New Roman"/>
              <a:cs typeface="Times New Roman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6F616B6-4E98-B243-4AA5-DA02158AC0C3}"/>
              </a:ext>
            </a:extLst>
          </p:cNvPr>
          <p:cNvSpPr txBox="1"/>
          <p:nvPr/>
        </p:nvSpPr>
        <p:spPr>
          <a:xfrm>
            <a:off x="3707337" y="526640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cs typeface="Times New Roman"/>
              </a:rPr>
              <a:t>CDF </a:t>
            </a:r>
            <a:r>
              <a:rPr lang="vi-VN" sz="1600" b="1" i="1" err="1">
                <a:latin typeface="Times New Roman"/>
                <a:cs typeface="Times New Roman"/>
              </a:rPr>
              <a:t>Comparisons</a:t>
            </a:r>
            <a:r>
              <a:rPr lang="vi-VN" sz="1600">
                <a:latin typeface="Times New Roman"/>
                <a:ea typeface="Lato"/>
                <a:cs typeface="Times New Roman"/>
              </a:rPr>
              <a:t>​</a:t>
            </a:r>
            <a:endParaRPr lang="vi-VN">
              <a:latin typeface="Times New Roman"/>
              <a:cs typeface="Times New Roman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E971A50B-EBC8-F2CD-2504-BEC099341F15}"/>
              </a:ext>
            </a:extLst>
          </p:cNvPr>
          <p:cNvSpPr txBox="1"/>
          <p:nvPr/>
        </p:nvSpPr>
        <p:spPr>
          <a:xfrm>
            <a:off x="723103" y="5687262"/>
            <a:ext cx="828125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err="1">
                <a:latin typeface="Times New Roman"/>
                <a:cs typeface="Times New Roman"/>
              </a:rPr>
              <a:t>Tất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cả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các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mô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hình</a:t>
            </a:r>
            <a:r>
              <a:rPr lang="en-US" sz="2000">
                <a:latin typeface="Times New Roman"/>
                <a:cs typeface="Times New Roman"/>
              </a:rPr>
              <a:t> GAN </a:t>
            </a:r>
            <a:r>
              <a:rPr lang="en-US" sz="2000" err="1">
                <a:latin typeface="Times New Roman"/>
                <a:cs typeface="Times New Roman"/>
              </a:rPr>
              <a:t>đều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bắt</a:t>
            </a:r>
            <a:r>
              <a:rPr lang="en-US" sz="2000" b="1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chước</a:t>
            </a:r>
            <a:r>
              <a:rPr lang="en-US" sz="2000" b="1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được</a:t>
            </a:r>
            <a:r>
              <a:rPr lang="en-US" sz="2000" b="1">
                <a:latin typeface="Times New Roman"/>
                <a:cs typeface="Times New Roman"/>
              </a:rPr>
              <a:t> xu </a:t>
            </a:r>
            <a:r>
              <a:rPr lang="en-US" sz="2000" b="1" err="1">
                <a:latin typeface="Times New Roman"/>
                <a:cs typeface="Times New Roman"/>
              </a:rPr>
              <a:t>hướng</a:t>
            </a:r>
            <a:r>
              <a:rPr lang="en-US" sz="2000" b="1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của</a:t>
            </a:r>
            <a:r>
              <a:rPr lang="en-US" sz="2000" b="1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dữ</a:t>
            </a:r>
            <a:r>
              <a:rPr lang="en-US" sz="2000" b="1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liệu</a:t>
            </a:r>
            <a:r>
              <a:rPr lang="en-US" sz="2000" b="1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thực</a:t>
            </a:r>
            <a:r>
              <a:rPr lang="en-US" sz="2000" b="1">
                <a:latin typeface="Times New Roman"/>
                <a:cs typeface="Times New Roman"/>
              </a:rPr>
              <a:t> (Measured)</a:t>
            </a:r>
            <a:r>
              <a:rPr lang="en-US" sz="2000">
                <a:latin typeface="Times New Roman"/>
                <a:cs typeface="Times New Roman"/>
              </a:rPr>
              <a:t>, </a:t>
            </a:r>
            <a:r>
              <a:rPr lang="en-US" sz="2000" err="1">
                <a:latin typeface="Times New Roman"/>
                <a:cs typeface="Times New Roman"/>
              </a:rPr>
              <a:t>cho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thấy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khả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năng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sinh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kênh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hợp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lý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450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BBD31-C5AA-EB11-B950-EBE2F27B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5756355-A090-E9D4-9474-B6ABB847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19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3E77C906-512B-67C4-12D3-F3027C7FE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BER hệ thống SISO – </a:t>
            </a:r>
            <a:r>
              <a:rPr lang="vi-VN" err="1">
                <a:latin typeface="Times New Roman"/>
                <a:ea typeface="Lato"/>
                <a:cs typeface="Times New Roman"/>
              </a:rPr>
              <a:t>Coded</a:t>
            </a:r>
            <a:r>
              <a:rPr lang="vi-VN">
                <a:latin typeface="Times New Roman"/>
                <a:ea typeface="Lato"/>
                <a:cs typeface="Times New Roman"/>
              </a:rPr>
              <a:t> OFDM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69BBD3E0-88B7-EA13-8D0B-DF22010A7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8" y="849044"/>
            <a:ext cx="9052431" cy="4112719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4CD0D705-3887-32D6-521A-5F85D2F39807}"/>
              </a:ext>
            </a:extLst>
          </p:cNvPr>
          <p:cNvSpPr txBox="1"/>
          <p:nvPr/>
        </p:nvSpPr>
        <p:spPr>
          <a:xfrm>
            <a:off x="1324079" y="4962898"/>
            <a:ext cx="832907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ea typeface="Lato"/>
                <a:cs typeface="Times New Roman"/>
              </a:rPr>
              <a:t>So sánh </a:t>
            </a:r>
            <a:r>
              <a:rPr lang="vi-VN" sz="1600" b="1" i="1" err="1">
                <a:latin typeface="Times New Roman"/>
                <a:ea typeface="Lato"/>
                <a:cs typeface="Times New Roman"/>
              </a:rPr>
              <a:t>Ber</a:t>
            </a:r>
            <a:r>
              <a:rPr lang="vi-VN" sz="1600" b="1" i="1">
                <a:latin typeface="Times New Roman"/>
                <a:ea typeface="Lato"/>
                <a:cs typeface="Times New Roman"/>
              </a:rPr>
              <a:t> theo SNR dữ liệu thực và dữ liệu GAN, WGAN-GP, VAE-WGAN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0BD0DCB-22B8-E263-0AB1-157E94575C10}"/>
              </a:ext>
            </a:extLst>
          </p:cNvPr>
          <p:cNvSpPr txBox="1"/>
          <p:nvPr/>
        </p:nvSpPr>
        <p:spPr>
          <a:xfrm>
            <a:off x="541371" y="5457704"/>
            <a:ext cx="852993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>
                <a:latin typeface="Times New Roman"/>
                <a:cs typeface="Times New Roman"/>
              </a:rPr>
              <a:t>WGAN-GP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cho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hiệu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suất</a:t>
            </a:r>
            <a:r>
              <a:rPr lang="en-US" sz="2000">
                <a:latin typeface="Times New Roman"/>
                <a:cs typeface="Times New Roman"/>
              </a:rPr>
              <a:t> BER </a:t>
            </a:r>
            <a:r>
              <a:rPr lang="en-US" sz="2000" err="1">
                <a:latin typeface="Times New Roman"/>
                <a:cs typeface="Times New Roman"/>
              </a:rPr>
              <a:t>tốt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nhất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b="1">
                <a:latin typeface="Times New Roman"/>
                <a:cs typeface="Times New Roman"/>
              </a:rPr>
              <a:t> </a:t>
            </a:r>
            <a:endParaRPr lang="vi-VN">
              <a:latin typeface="Times New Roman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→ </a:t>
            </a:r>
            <a:r>
              <a:rPr lang="en-US" sz="2000" err="1">
                <a:latin typeface="Times New Roman"/>
                <a:cs typeface="Times New Roman"/>
              </a:rPr>
              <a:t>Khả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năng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học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phân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bố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kênh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tốt</a:t>
            </a:r>
            <a:r>
              <a:rPr lang="en-US" sz="2000">
                <a:latin typeface="Times New Roman"/>
                <a:cs typeface="Times New Roman"/>
              </a:rPr>
              <a:t>, </a:t>
            </a:r>
            <a:r>
              <a:rPr lang="en-US" sz="2000" err="1">
                <a:latin typeface="Times New Roman"/>
                <a:cs typeface="Times New Roman"/>
              </a:rPr>
              <a:t>sinh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ra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dữ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liệu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gần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sát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lý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tưởng</a:t>
            </a:r>
            <a:r>
              <a:rPr lang="en-US" sz="2000">
                <a:latin typeface="Times New Roman"/>
                <a:cs typeface="Times New Roman"/>
              </a:rPr>
              <a:t>, </a:t>
            </a:r>
            <a:r>
              <a:rPr lang="en-US" sz="2000" err="1">
                <a:latin typeface="Times New Roman"/>
                <a:cs typeface="Times New Roman"/>
              </a:rPr>
              <a:t>ít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lỗi</a:t>
            </a:r>
            <a:r>
              <a:rPr lang="en-US" sz="2000">
                <a:latin typeface="Times New Roman"/>
                <a:cs typeface="Times New Roman"/>
              </a:rPr>
              <a:t> bit </a:t>
            </a:r>
            <a:r>
              <a:rPr lang="en-US" sz="2000" err="1">
                <a:latin typeface="Times New Roman"/>
                <a:cs typeface="Times New Roman"/>
              </a:rPr>
              <a:t>hơn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9957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2A6A1-EE54-598A-5755-B10D1087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562635E-BB4B-0567-D625-EAD61E6F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20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8C8277E9-5452-E392-8F1D-6E39639A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Kết quả MIMO</a:t>
            </a:r>
            <a:endParaRPr lang="en-US">
              <a:latin typeface="Times New Roman"/>
              <a:ea typeface="Lato"/>
              <a:cs typeface="Times New Roman"/>
            </a:endParaRPr>
          </a:p>
        </p:txBody>
      </p:sp>
      <p:graphicFrame>
        <p:nvGraphicFramePr>
          <p:cNvPr id="10" name="Bảng 9">
            <a:extLst>
              <a:ext uri="{FF2B5EF4-FFF2-40B4-BE49-F238E27FC236}">
                <a16:creationId xmlns:a16="http://schemas.microsoft.com/office/drawing/2014/main" id="{A9CA4B68-C06B-DC71-0368-72E8D6E88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261887"/>
              </p:ext>
            </p:extLst>
          </p:nvPr>
        </p:nvGraphicFramePr>
        <p:xfrm>
          <a:off x="-1" y="832141"/>
          <a:ext cx="9140019" cy="3230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78281">
                  <a:extLst>
                    <a:ext uri="{9D8B030D-6E8A-4147-A177-3AD203B41FA5}">
                      <a16:colId xmlns:a16="http://schemas.microsoft.com/office/drawing/2014/main" val="3061066535"/>
                    </a:ext>
                  </a:extLst>
                </a:gridCol>
                <a:gridCol w="2587333">
                  <a:extLst>
                    <a:ext uri="{9D8B030D-6E8A-4147-A177-3AD203B41FA5}">
                      <a16:colId xmlns:a16="http://schemas.microsoft.com/office/drawing/2014/main" val="1011547634"/>
                    </a:ext>
                  </a:extLst>
                </a:gridCol>
                <a:gridCol w="3674405">
                  <a:extLst>
                    <a:ext uri="{9D8B030D-6E8A-4147-A177-3AD203B41FA5}">
                      <a16:colId xmlns:a16="http://schemas.microsoft.com/office/drawing/2014/main" val="1550881413"/>
                    </a:ext>
                  </a:extLst>
                </a:gridCol>
              </a:tblGrid>
              <a:tr h="370461"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</a:rPr>
                        <a:t>Real Channel PDP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</a:rPr>
                        <a:t>WGAN-GP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2000">
                          <a:solidFill>
                            <a:schemeClr val="tx1"/>
                          </a:solidFill>
                          <a:latin typeface="Times New Roman"/>
                        </a:rPr>
                        <a:t>GAN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75200"/>
                  </a:ext>
                </a:extLst>
              </a:tr>
              <a:tr h="2632225">
                <a:tc>
                  <a:txBody>
                    <a:bodyPr/>
                    <a:lstStyle/>
                    <a:p>
                      <a:pPr marL="285750" indent="-285750" algn="just">
                        <a:buFont typeface="Calibri"/>
                        <a:buChar char="-"/>
                      </a:pPr>
                      <a:r>
                        <a:rPr lang="vi-VN" sz="2000">
                          <a:latin typeface="Times New Roman"/>
                        </a:rPr>
                        <a:t>Phân bố công suất mạnh ở một số </a:t>
                      </a:r>
                      <a:r>
                        <a:rPr lang="vi-VN" sz="2000" err="1">
                          <a:latin typeface="Times New Roman"/>
                        </a:rPr>
                        <a:t>tap</a:t>
                      </a:r>
                      <a:r>
                        <a:rPr lang="vi-VN" sz="2000">
                          <a:latin typeface="Times New Roman"/>
                        </a:rPr>
                        <a:t> đầu, suy giảm dần theo </a:t>
                      </a:r>
                      <a:r>
                        <a:rPr lang="vi-VN" sz="2000" err="1">
                          <a:latin typeface="Times New Roman"/>
                        </a:rPr>
                        <a:t>delay</a:t>
                      </a:r>
                      <a:endParaRPr lang="vi-VN" sz="2000">
                        <a:latin typeface="Times New Roman"/>
                      </a:endParaRPr>
                    </a:p>
                    <a:p>
                      <a:pPr marL="285750" indent="-285750" algn="just">
                        <a:buFont typeface="Calibri"/>
                        <a:buChar char="-"/>
                      </a:pPr>
                      <a:r>
                        <a:rPr lang="vi-VN" sz="2000">
                          <a:latin typeface="Times New Roman"/>
                        </a:rPr>
                        <a:t>Bề mặt có </a:t>
                      </a:r>
                      <a:r>
                        <a:rPr lang="vi-VN" sz="2000" b="1">
                          <a:latin typeface="Times New Roman"/>
                        </a:rPr>
                        <a:t>các vùng năng lượng rõ rệt</a:t>
                      </a:r>
                      <a:r>
                        <a:rPr lang="vi-VN" sz="2000">
                          <a:latin typeface="Times New Roman"/>
                        </a:rPr>
                        <a:t>, đặc trưng cho đa đường thực tế</a:t>
                      </a:r>
                    </a:p>
                    <a:p>
                      <a:pPr algn="just"/>
                      <a:endParaRPr lang="en-US" sz="2000">
                        <a:latin typeface="Times New Roman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Calibri"/>
                        <a:buChar char="-"/>
                      </a:pPr>
                      <a:r>
                        <a:rPr lang="vi-VN" sz="2000" b="0">
                          <a:latin typeface="Times New Roman"/>
                        </a:rPr>
                        <a:t>Phân bố công suất bám sát dữ liệu thực.</a:t>
                      </a:r>
                    </a:p>
                    <a:p>
                      <a:pPr marL="285750" indent="-285750" algn="just">
                        <a:buFont typeface="Calibri"/>
                        <a:buChar char="-"/>
                      </a:pPr>
                      <a:r>
                        <a:rPr lang="vi-VN" sz="2000">
                          <a:latin typeface="Times New Roman"/>
                        </a:rPr>
                        <a:t>Tổng thể mô hình học </a:t>
                      </a:r>
                      <a:r>
                        <a:rPr lang="vi-VN" sz="2000" b="1">
                          <a:latin typeface="Times New Roman"/>
                        </a:rPr>
                        <a:t>đặc trưng vật lý tốt</a:t>
                      </a:r>
                      <a:r>
                        <a:rPr lang="vi-VN" sz="2000">
                          <a:latin typeface="Times New Roman"/>
                        </a:rPr>
                        <a:t>, sinh PDP có độ trung thực cao</a:t>
                      </a:r>
                    </a:p>
                    <a:p>
                      <a:pPr algn="just"/>
                      <a:endParaRPr lang="en-US" sz="2000">
                        <a:latin typeface="Times New Roman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Calibri"/>
                        <a:buChar char="-"/>
                      </a:pPr>
                      <a:r>
                        <a:rPr lang="vi-VN" sz="2000">
                          <a:latin typeface="Times New Roman"/>
                        </a:rPr>
                        <a:t>Mức công suất bị nhiễu, xuất hiện các</a:t>
                      </a:r>
                      <a:r>
                        <a:rPr lang="vi-VN" sz="2000" b="0">
                          <a:latin typeface="Times New Roman"/>
                        </a:rPr>
                        <a:t> đỉnh nhọn bất thường</a:t>
                      </a:r>
                    </a:p>
                    <a:p>
                      <a:pPr marL="285750" indent="-285750" algn="just">
                        <a:buFont typeface="Calibri"/>
                        <a:buChar char="-"/>
                      </a:pPr>
                      <a:r>
                        <a:rPr lang="vi-VN" sz="2000" b="0">
                          <a:latin typeface="Times New Roman"/>
                        </a:rPr>
                        <a:t>Không tái hiện tốt phân bố năng lượng của kênh thực</a:t>
                      </a:r>
                    </a:p>
                    <a:p>
                      <a:pPr marL="285750" indent="-285750" algn="just">
                        <a:buFont typeface="Calibri"/>
                        <a:buChar char="-"/>
                      </a:pPr>
                      <a:r>
                        <a:rPr lang="vi-VN" sz="2000">
                          <a:latin typeface="Times New Roman"/>
                        </a:rPr>
                        <a:t>Biểu đồ thiếu tính ổn định, sinh dữ liệu không đồng đều</a:t>
                      </a:r>
                    </a:p>
                    <a:p>
                      <a:pPr algn="just"/>
                      <a:endParaRPr lang="en-US" sz="2000">
                        <a:latin typeface="Times New Roman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04922"/>
                  </a:ext>
                </a:extLst>
              </a:tr>
            </a:tbl>
          </a:graphicData>
        </a:graphic>
      </p:graphicFrame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A7A4D9A5-9464-EC88-91A6-317BD1EF608F}"/>
              </a:ext>
            </a:extLst>
          </p:cNvPr>
          <p:cNvSpPr txBox="1"/>
          <p:nvPr/>
        </p:nvSpPr>
        <p:spPr>
          <a:xfrm>
            <a:off x="1842192" y="6031598"/>
            <a:ext cx="730563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latin typeface="Times New Roman"/>
                <a:ea typeface="Lato"/>
                <a:cs typeface="Times New Roman"/>
              </a:rPr>
              <a:t>So sánh PDP 3D giữa dữ liệu thực và dữ liệu sinh với data MIMO 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12197EA-EE9B-CF57-CF79-B11A62C3E6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64" r="3" b="2847"/>
          <a:stretch>
            <a:fillRect/>
          </a:stretch>
        </p:blipFill>
        <p:spPr>
          <a:xfrm>
            <a:off x="0" y="3683436"/>
            <a:ext cx="9143726" cy="234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17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67874-827C-917D-DB90-668FAD3A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66FE82C-B8CC-A9BD-70B9-825EE0CA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21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72AE1010-5BE9-41D9-484E-6A274991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Kết quả MIMO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8194" name="Picture 2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69A6F87B-55B3-6BDB-EF9A-69447C852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0" t="11436" r="6897" b="3613"/>
          <a:stretch>
            <a:fillRect/>
          </a:stretch>
        </p:blipFill>
        <p:spPr bwMode="auto">
          <a:xfrm>
            <a:off x="4342611" y="3657198"/>
            <a:ext cx="4880006" cy="246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 graph with colored lines&#10;&#10;Description automatically generated">
            <a:extLst>
              <a:ext uri="{FF2B5EF4-FFF2-40B4-BE49-F238E27FC236}">
                <a16:creationId xmlns:a16="http://schemas.microsoft.com/office/drawing/2014/main" id="{19F248B6-2BC0-5A52-4423-9C3FA4F1A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0" t="12745" r="4468" b="2614"/>
          <a:stretch>
            <a:fillRect/>
          </a:stretch>
        </p:blipFill>
        <p:spPr bwMode="auto">
          <a:xfrm>
            <a:off x="237273" y="858602"/>
            <a:ext cx="4354380" cy="247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A diagram of a distribution graph&#10;&#10;Description automatically generated with medium confidence">
            <a:extLst>
              <a:ext uri="{FF2B5EF4-FFF2-40B4-BE49-F238E27FC236}">
                <a16:creationId xmlns:a16="http://schemas.microsoft.com/office/drawing/2014/main" id="{8FF92DEF-BBEA-1488-235B-65AE857CE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8" t="11341" r="9407" b="3498"/>
          <a:stretch>
            <a:fillRect/>
          </a:stretch>
        </p:blipFill>
        <p:spPr bwMode="auto">
          <a:xfrm>
            <a:off x="4799708" y="844436"/>
            <a:ext cx="4131804" cy="24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A graph of a bit error rate comparison&#10;&#10;Description automatically generated">
            <a:extLst>
              <a:ext uri="{FF2B5EF4-FFF2-40B4-BE49-F238E27FC236}">
                <a16:creationId xmlns:a16="http://schemas.microsoft.com/office/drawing/2014/main" id="{F97449DE-EF76-9494-7774-A7A149DAF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2" t="8232" r="7478" b="-460"/>
          <a:stretch>
            <a:fillRect/>
          </a:stretch>
        </p:blipFill>
        <p:spPr bwMode="auto">
          <a:xfrm>
            <a:off x="-2003" y="3646767"/>
            <a:ext cx="4477706" cy="2473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13F997DD-9B0F-B134-0657-4825A5D0A013}"/>
              </a:ext>
            </a:extLst>
          </p:cNvPr>
          <p:cNvSpPr txBox="1"/>
          <p:nvPr/>
        </p:nvSpPr>
        <p:spPr>
          <a:xfrm>
            <a:off x="2186526" y="3315178"/>
            <a:ext cx="57178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latin typeface="Times New Roman"/>
                <a:ea typeface="Lato"/>
                <a:cs typeface="Times New Roman"/>
              </a:rPr>
              <a:t>(a) CDF và (b) PDF của RMS Delay Spread (MIMO) 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F7EF065-D64A-32C2-452D-A823618272B8}"/>
              </a:ext>
            </a:extLst>
          </p:cNvPr>
          <p:cNvSpPr txBox="1"/>
          <p:nvPr/>
        </p:nvSpPr>
        <p:spPr>
          <a:xfrm>
            <a:off x="1215954" y="6124723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 i="1">
                <a:latin typeface="Times New Roman"/>
                <a:ea typeface="Lato"/>
                <a:cs typeface="Times New Roman"/>
              </a:rPr>
              <a:t>Biểu diễn BER theo SNR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6830359F-51AB-254B-1AB4-199DCD04C86E}"/>
              </a:ext>
            </a:extLst>
          </p:cNvPr>
          <p:cNvSpPr txBox="1"/>
          <p:nvPr/>
        </p:nvSpPr>
        <p:spPr>
          <a:xfrm>
            <a:off x="4568174" y="6123462"/>
            <a:ext cx="666478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latin typeface="Times New Roman"/>
                <a:ea typeface="Lato"/>
                <a:cs typeface="Times New Roman"/>
              </a:rPr>
              <a:t>PDP 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của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 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dữ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 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liệu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 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thực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 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và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 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dữ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 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liệu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 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sinh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 </a:t>
            </a:r>
            <a:r>
              <a:rPr lang="en-US" sz="1600" b="1" i="1" err="1">
                <a:latin typeface="Times New Roman"/>
                <a:ea typeface="Lato"/>
                <a:cs typeface="Times New Roman"/>
              </a:rPr>
              <a:t>với</a:t>
            </a:r>
            <a:r>
              <a:rPr lang="en-US" sz="1600" b="1" i="1">
                <a:latin typeface="Times New Roman"/>
                <a:ea typeface="Lato"/>
                <a:cs typeface="Times New Roman"/>
              </a:rPr>
              <a:t> data MIMO </a:t>
            </a:r>
            <a:r>
              <a:rPr lang="vi-VN" sz="1600">
                <a:latin typeface="Times New Roman"/>
                <a:ea typeface="Lato"/>
                <a:cs typeface="Times New Roman"/>
              </a:rPr>
              <a:t>​</a:t>
            </a:r>
            <a:endParaRPr lang="vi-VN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4471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85AA8D56-133B-7EC1-BD4B-1DF75AEA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Times New Roman"/>
                <a:cs typeface="Times New Roman"/>
              </a:rPr>
              <a:pPr/>
              <a:t>22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A0F327B8-813D-37F3-5FAC-AD5302A8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Times New Roman"/>
              </a:rPr>
              <a:t>Chương 5: Kết luận, hướng phát triển</a:t>
            </a:r>
            <a:endParaRPr lang="en-US">
              <a:latin typeface="Times New Roman"/>
              <a:ea typeface="Lato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89FCB4B-FCC4-D8E7-742D-A53894F6D8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4685557" cy="5132832"/>
          </a:xfrm>
        </p:spPr>
        <p:txBody>
          <a:bodyPr lIns="91440" tIns="45720" rIns="91440" bIns="45720" anchor="t"/>
          <a:lstStyle/>
          <a:p>
            <a:pPr marL="0" indent="0" fontAlgn="base">
              <a:buNone/>
            </a:pPr>
            <a:r>
              <a:rPr lang="vi-VN" sz="2000" b="1">
                <a:latin typeface="Times New Roman"/>
                <a:ea typeface="Lato"/>
                <a:cs typeface="Times New Roman"/>
              </a:rPr>
              <a:t>Kết luận:</a:t>
            </a:r>
            <a:r>
              <a:rPr lang="en-US" sz="2000" b="1">
                <a:latin typeface="Times New Roman"/>
                <a:ea typeface="Lato"/>
                <a:cs typeface="Times New Roman"/>
              </a:rPr>
              <a:t> </a:t>
            </a:r>
            <a:r>
              <a:rPr lang="en-US" sz="2000">
                <a:latin typeface="Times New Roman"/>
                <a:ea typeface="Lato"/>
                <a:cs typeface="Times New Roman"/>
              </a:rPr>
              <a:t>​</a:t>
            </a:r>
            <a:endParaRPr lang="vi-VN" sz="2000">
              <a:latin typeface="Times New Roman"/>
              <a:ea typeface="Lato"/>
              <a:cs typeface="Times New Roman"/>
            </a:endParaRPr>
          </a:p>
          <a:p>
            <a:pPr marL="285750" indent="-285750" algn="just" fontAlgn="base"/>
            <a:r>
              <a:rPr lang="en-US" sz="2000" b="1">
                <a:latin typeface="Times New Roman"/>
                <a:ea typeface="Lato"/>
                <a:cs typeface="Times New Roman"/>
              </a:rPr>
              <a:t>WGAN-GP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vượt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trội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hơn</a:t>
            </a:r>
            <a:r>
              <a:rPr lang="en-US" sz="2000">
                <a:latin typeface="Times New Roman"/>
                <a:ea typeface="Lato"/>
                <a:cs typeface="Times New Roman"/>
              </a:rPr>
              <a:t> GAN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trong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việc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mô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phỏng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dữ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liệu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kênh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truyền</a:t>
            </a:r>
            <a:r>
              <a:rPr lang="en-US" sz="2000">
                <a:latin typeface="Times New Roman"/>
                <a:ea typeface="Lato"/>
                <a:cs typeface="Times New Roman"/>
              </a:rPr>
              <a:t>. </a:t>
            </a:r>
          </a:p>
          <a:p>
            <a:pPr marL="285750" indent="-285750" algn="just"/>
            <a:r>
              <a:rPr lang="en-US" sz="2000">
                <a:latin typeface="Times New Roman"/>
                <a:ea typeface="Lato"/>
                <a:cs typeface="Times New Roman"/>
              </a:rPr>
              <a:t>Mô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hình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này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tái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tạo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tốt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nhất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các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đặc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trưng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vật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lý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như</a:t>
            </a:r>
            <a:r>
              <a:rPr lang="en-US" sz="2000">
                <a:latin typeface="Times New Roman"/>
                <a:ea typeface="Lato"/>
                <a:cs typeface="Times New Roman"/>
              </a:rPr>
              <a:t> PDP, RMS Delay Spread 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và</a:t>
            </a:r>
            <a:r>
              <a:rPr lang="en-US" sz="2000">
                <a:latin typeface="Times New Roman"/>
                <a:ea typeface="Lato"/>
                <a:cs typeface="Times New Roman"/>
              </a:rPr>
              <a:t> Shadow Fading. </a:t>
            </a:r>
            <a:endParaRPr lang="vi-VN" sz="2000">
              <a:latin typeface="Times New Roman"/>
              <a:cs typeface="Times New Roman"/>
            </a:endParaRPr>
          </a:p>
          <a:p>
            <a:pPr marL="285750" indent="-285750" algn="just"/>
            <a:r>
              <a:rPr lang="en-US" sz="2000" err="1">
                <a:latin typeface="Times New Roman"/>
                <a:ea typeface="Lato"/>
                <a:cs typeface="Times New Roman"/>
              </a:rPr>
              <a:t>Kết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quả</a:t>
            </a:r>
            <a:r>
              <a:rPr lang="en-US" sz="2000">
                <a:latin typeface="Times New Roman"/>
                <a:ea typeface="Lato"/>
                <a:cs typeface="Times New Roman"/>
              </a:rPr>
              <a:t> BER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từ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mô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phỏng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hệ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thống</a:t>
            </a:r>
            <a:r>
              <a:rPr lang="en-US" sz="2000">
                <a:latin typeface="Times New Roman"/>
                <a:ea typeface="Lato"/>
                <a:cs typeface="Times New Roman"/>
              </a:rPr>
              <a:t> LDPC-MIMO-OFDM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cũng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cho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thấy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sự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tương</a:t>
            </a:r>
            <a:r>
              <a:rPr lang="en-US" sz="2000">
                <a:latin typeface="Times New Roman"/>
                <a:ea typeface="Lato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Lato"/>
                <a:cs typeface="Times New Roman"/>
              </a:rPr>
              <a:t>đồng</a:t>
            </a:r>
            <a:r>
              <a:rPr lang="vi-VN" sz="2000">
                <a:latin typeface="Times New Roman"/>
                <a:ea typeface="Lato"/>
                <a:cs typeface="Times New Roman"/>
              </a:rPr>
              <a:t> từ dữ liệu WGAN-GP so với dữ liệu thực.​</a:t>
            </a:r>
            <a:endParaRPr lang="vi-VN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5528C99-B677-596A-246F-5827A717E1A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018679" y="964875"/>
            <a:ext cx="3886200" cy="4351337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indent="0" algn="just" fontAlgn="base">
              <a:buNone/>
            </a:pPr>
            <a:r>
              <a:rPr lang="vi-VN" sz="2000" b="1">
                <a:latin typeface="Times New Roman"/>
                <a:cs typeface="Times New Roman"/>
              </a:rPr>
              <a:t>Hướng phát triển:</a:t>
            </a:r>
            <a:r>
              <a:rPr lang="en-US" sz="2000">
                <a:latin typeface="Times New Roman"/>
                <a:cs typeface="Times New Roman"/>
              </a:rPr>
              <a:t>​</a:t>
            </a:r>
            <a:endParaRPr lang="vi-VN" sz="2000">
              <a:latin typeface="Times New Roman"/>
              <a:cs typeface="Times New Roman"/>
            </a:endParaRPr>
          </a:p>
          <a:p>
            <a:pPr algn="just" fontAlgn="base"/>
            <a:r>
              <a:rPr lang="vi-VN" sz="2000">
                <a:latin typeface="Times New Roman"/>
                <a:cs typeface="Times New Roman"/>
              </a:rPr>
              <a:t>Sử dụng dữ liệu ở các kịch bản khác.</a:t>
            </a:r>
            <a:r>
              <a:rPr lang="en-US" sz="2000">
                <a:latin typeface="Times New Roman"/>
                <a:cs typeface="Times New Roman"/>
              </a:rPr>
              <a:t>​</a:t>
            </a:r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pPr algn="just" fontAlgn="base"/>
            <a:r>
              <a:rPr lang="vi-VN" sz="2000">
                <a:latin typeface="Times New Roman"/>
                <a:cs typeface="Times New Roman"/>
              </a:rPr>
              <a:t>Xây dựng DT </a:t>
            </a:r>
            <a:r>
              <a:rPr lang="vi-VN" sz="2000" err="1">
                <a:latin typeface="Times New Roman"/>
                <a:cs typeface="Times New Roman"/>
              </a:rPr>
              <a:t>channel</a:t>
            </a:r>
            <a:r>
              <a:rPr lang="vi-VN" sz="2000">
                <a:latin typeface="Times New Roman"/>
                <a:cs typeface="Times New Roman"/>
              </a:rPr>
              <a:t> với các biến thể khác của GAN như: </a:t>
            </a:r>
            <a:r>
              <a:rPr lang="vi-VN" sz="2000" err="1">
                <a:latin typeface="Times New Roman"/>
                <a:cs typeface="Times New Roman"/>
              </a:rPr>
              <a:t>cGAN</a:t>
            </a:r>
            <a:r>
              <a:rPr lang="vi-VN" sz="2000">
                <a:latin typeface="Times New Roman"/>
                <a:cs typeface="Times New Roman"/>
              </a:rPr>
              <a:t>, </a:t>
            </a:r>
            <a:r>
              <a:rPr lang="vi-VN" sz="2000" err="1">
                <a:latin typeface="Times New Roman"/>
                <a:cs typeface="Times New Roman"/>
              </a:rPr>
              <a:t>StyleGAN</a:t>
            </a:r>
            <a:r>
              <a:rPr lang="vi-VN" sz="2000">
                <a:latin typeface="Times New Roman"/>
                <a:cs typeface="Times New Roman"/>
              </a:rPr>
              <a:t>,… hay các mô hình sinh khác như VAE, </a:t>
            </a:r>
            <a:r>
              <a:rPr lang="vi-VN" sz="2000" err="1">
                <a:latin typeface="Times New Roman"/>
                <a:cs typeface="Times New Roman"/>
              </a:rPr>
              <a:t>Diffusion</a:t>
            </a:r>
            <a:r>
              <a:rPr lang="vi-VN" sz="2000">
                <a:latin typeface="Times New Roman"/>
                <a:cs typeface="Times New Roman"/>
              </a:rPr>
              <a:t> </a:t>
            </a:r>
            <a:r>
              <a:rPr lang="vi-VN" sz="2000" err="1">
                <a:latin typeface="Times New Roman"/>
                <a:cs typeface="Times New Roman"/>
              </a:rPr>
              <a:t>model</a:t>
            </a:r>
            <a:r>
              <a:rPr lang="vi-VN" sz="2000">
                <a:latin typeface="Times New Roman"/>
                <a:cs typeface="Times New Roman"/>
              </a:rPr>
              <a:t>.</a:t>
            </a:r>
            <a:r>
              <a:rPr lang="en-US" sz="2000">
                <a:latin typeface="Times New Roman"/>
                <a:cs typeface="Times New Roman"/>
              </a:rPr>
              <a:t>​</a:t>
            </a:r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pPr algn="just" fontAlgn="base"/>
            <a:r>
              <a:rPr lang="vi-VN" sz="2000">
                <a:latin typeface="Times New Roman"/>
                <a:cs typeface="Times New Roman"/>
              </a:rPr>
              <a:t>Đánh giá chất lượng tín </a:t>
            </a:r>
            <a:r>
              <a:rPr lang="vi-VN" sz="2000" err="1">
                <a:latin typeface="Times New Roman"/>
                <a:cs typeface="Times New Roman"/>
              </a:rPr>
              <a:t>hiêu</a:t>
            </a:r>
            <a:r>
              <a:rPr lang="vi-VN" sz="2000">
                <a:latin typeface="Times New Roman"/>
                <a:cs typeface="Times New Roman"/>
              </a:rPr>
              <a:t> trong các hệ thống phức tạp hơn</a:t>
            </a:r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endParaRPr lang="en-US" sz="2000">
              <a:latin typeface="Times New Roman"/>
              <a:ea typeface="Calibri" panose="020F0502020204030204"/>
              <a:cs typeface="Times New Roman"/>
            </a:endParaRPr>
          </a:p>
        </p:txBody>
      </p:sp>
      <p:pic>
        <p:nvPicPr>
          <p:cNvPr id="9222" name="Picture 6" descr="画像で検索｜無料イラスト・フリー素材なら「イラストAC」">
            <a:extLst>
              <a:ext uri="{FF2B5EF4-FFF2-40B4-BE49-F238E27FC236}">
                <a16:creationId xmlns:a16="http://schemas.microsoft.com/office/drawing/2014/main" id="{B64A497F-E5C0-70E3-B9CB-885389765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70400"/>
            <a:ext cx="9144000" cy="170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526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DAD1D13-810C-2DAA-D400-2E1C87FB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8C44E5D6-4348-4037-939B-BAB9317E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Lato"/>
              </a:rPr>
              <a:t>Tài liệu tham khảo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2392861-B91C-9005-94D4-FFA49FE87D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4200" y="966507"/>
            <a:ext cx="8694881" cy="4420166"/>
          </a:xfrm>
        </p:spPr>
        <p:txBody>
          <a:bodyPr lIns="91440" tIns="45720" rIns="91440" bIns="45720" anchor="t"/>
          <a:lstStyle/>
          <a:p>
            <a:pPr algn="just"/>
            <a:r>
              <a:rPr lang="vi-VN" sz="2000" i="1">
                <a:latin typeface="Times New Roman"/>
                <a:ea typeface="Lato"/>
                <a:cs typeface="Lato"/>
              </a:rPr>
              <a:t>[1] Y.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Zhang</a:t>
            </a:r>
            <a:r>
              <a:rPr lang="vi-VN" sz="2000" i="1">
                <a:latin typeface="Times New Roman"/>
                <a:ea typeface="Lato"/>
                <a:cs typeface="Lato"/>
              </a:rPr>
              <a:t>, R. He, B. Ai,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et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al</a:t>
            </a:r>
            <a:r>
              <a:rPr lang="vi-VN" sz="2000" i="1">
                <a:latin typeface="Times New Roman"/>
                <a:ea typeface="Lato"/>
                <a:cs typeface="Lato"/>
              </a:rPr>
              <a:t>., “</a:t>
            </a:r>
            <a:r>
              <a:rPr lang="vi-VN" sz="2000" i="1" err="1">
                <a:latin typeface="Times New Roman"/>
                <a:ea typeface="Lato"/>
                <a:cs typeface="Lato"/>
              </a:rPr>
              <a:t>Generative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adversarial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networks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based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digital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twin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channel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modeling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for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intelligent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communication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networks</a:t>
            </a:r>
            <a:r>
              <a:rPr lang="vi-VN" sz="2000" i="1">
                <a:latin typeface="Times New Roman"/>
                <a:ea typeface="Lato"/>
                <a:cs typeface="Lato"/>
              </a:rPr>
              <a:t>,” *</a:t>
            </a:r>
            <a:r>
              <a:rPr lang="vi-VN" sz="2000" i="1" err="1">
                <a:latin typeface="Times New Roman"/>
                <a:ea typeface="Lato"/>
                <a:cs typeface="Lato"/>
              </a:rPr>
              <a:t>China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Communications</a:t>
            </a:r>
            <a:r>
              <a:rPr lang="vi-VN" sz="2000" i="1">
                <a:latin typeface="Times New Roman"/>
                <a:ea typeface="Lato"/>
                <a:cs typeface="Lato"/>
              </a:rPr>
              <a:t>*,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vol</a:t>
            </a:r>
            <a:r>
              <a:rPr lang="vi-VN" sz="2000" i="1">
                <a:latin typeface="Times New Roman"/>
                <a:ea typeface="Lato"/>
                <a:cs typeface="Lato"/>
              </a:rPr>
              <a:t>. 20, no. 8,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pp</a:t>
            </a:r>
            <a:r>
              <a:rPr lang="vi-VN" sz="2000" i="1">
                <a:latin typeface="Times New Roman"/>
                <a:ea typeface="Lato"/>
                <a:cs typeface="Lato"/>
              </a:rPr>
              <a:t>. 32–43, 2023. DOI: 10.23919/JCC.fa.2023-0206.202308</a:t>
            </a:r>
            <a:endParaRPr lang="en-US"/>
          </a:p>
          <a:p>
            <a:pPr algn="just"/>
            <a:r>
              <a:rPr lang="vi-VN" sz="2000" i="1">
                <a:latin typeface="Times New Roman"/>
                <a:ea typeface="Lato"/>
                <a:cs typeface="Lato"/>
              </a:rPr>
              <a:t>[2] KJH, “</a:t>
            </a:r>
            <a:r>
              <a:rPr lang="vi-VN" sz="2000" i="1" err="1">
                <a:latin typeface="Times New Roman"/>
                <a:ea typeface="Lato"/>
                <a:cs typeface="Lato"/>
              </a:rPr>
              <a:t>Generative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Adversarial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Network</a:t>
            </a:r>
            <a:r>
              <a:rPr lang="vi-VN" sz="2000" i="1">
                <a:latin typeface="Times New Roman"/>
                <a:ea typeface="Lato"/>
                <a:cs typeface="Lato"/>
              </a:rPr>
              <a:t>,” kjhov195.github.io, </a:t>
            </a:r>
            <a:r>
              <a:rPr lang="vi-VN" sz="2000" i="1">
                <a:latin typeface="Times New Roman"/>
                <a:ea typeface="Lato"/>
                <a:cs typeface="Lato"/>
                <a:hlinkClick r:id="rId2"/>
              </a:rPr>
              <a:t>https://kjhov195.github.io/2020-03-09-generative_adversarial_network/</a:t>
            </a:r>
            <a:r>
              <a:rPr lang="vi-VN" sz="2000" i="1">
                <a:latin typeface="Times New Roman"/>
                <a:ea typeface="Lato"/>
                <a:cs typeface="Lato"/>
              </a:rPr>
              <a:t>.</a:t>
            </a:r>
          </a:p>
          <a:p>
            <a:pPr algn="just"/>
            <a:r>
              <a:rPr lang="vi-VN" sz="2000" i="1">
                <a:latin typeface="Times New Roman"/>
                <a:ea typeface="Lato"/>
                <a:cs typeface="Lato"/>
              </a:rPr>
              <a:t>[3] Lưu, “</a:t>
            </a:r>
            <a:r>
              <a:rPr lang="vi-VN" sz="2000" i="1" err="1">
                <a:latin typeface="Times New Roman"/>
                <a:ea typeface="Lato"/>
                <a:cs typeface="Lato"/>
              </a:rPr>
              <a:t>Generative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Adversarial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Networks</a:t>
            </a:r>
            <a:r>
              <a:rPr lang="vi-VN" sz="2000" i="1">
                <a:latin typeface="Times New Roman"/>
                <a:ea typeface="Lato"/>
                <a:cs typeface="Lato"/>
              </a:rPr>
              <a:t> (GAN) – Mạng đối kháng sinh,” luu.name.vn, </a:t>
            </a:r>
            <a:r>
              <a:rPr lang="vi-VN" sz="2000" i="1">
                <a:latin typeface="Times New Roman"/>
                <a:ea typeface="Lato"/>
                <a:cs typeface="Lato"/>
                <a:hlinkClick r:id="rId3"/>
              </a:rPr>
              <a:t>https://luu.name.vn/generative-adversarial-networks-gan/</a:t>
            </a:r>
            <a:r>
              <a:rPr lang="vi-VN" sz="2000" i="1">
                <a:latin typeface="Times New Roman"/>
                <a:ea typeface="Lato"/>
                <a:cs typeface="Lato"/>
              </a:rPr>
              <a:t>.</a:t>
            </a:r>
          </a:p>
          <a:p>
            <a:pPr algn="just"/>
            <a:r>
              <a:rPr lang="vi-VN" sz="2000" i="1">
                <a:latin typeface="Times New Roman"/>
                <a:ea typeface="Lato"/>
                <a:cs typeface="Lato"/>
              </a:rPr>
              <a:t>[4] VG, “</a:t>
            </a:r>
            <a:r>
              <a:rPr lang="vi-VN" sz="2000" i="1" err="1">
                <a:latin typeface="Times New Roman"/>
                <a:ea typeface="Lato"/>
                <a:cs typeface="Lato"/>
              </a:rPr>
              <a:t>Wasserstein</a:t>
            </a:r>
            <a:r>
              <a:rPr lang="vi-VN" sz="2000" i="1">
                <a:latin typeface="Times New Roman"/>
                <a:ea typeface="Lato"/>
                <a:cs typeface="Lato"/>
              </a:rPr>
              <a:t> GAN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with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Gradient</a:t>
            </a:r>
            <a:r>
              <a:rPr lang="vi-VN" sz="2000" i="1">
                <a:latin typeface="Times New Roman"/>
                <a:ea typeface="Lato"/>
                <a:cs typeface="Lato"/>
              </a:rPr>
              <a:t>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Penalty</a:t>
            </a:r>
            <a:r>
              <a:rPr lang="vi-VN" sz="2000" i="1">
                <a:latin typeface="Times New Roman"/>
                <a:ea typeface="Lato"/>
                <a:cs typeface="Lato"/>
              </a:rPr>
              <a:t> (WGAN-GP),” Medium.com, </a:t>
            </a:r>
            <a:r>
              <a:rPr lang="vi-VN" sz="2000" i="1">
                <a:latin typeface="Times New Roman"/>
                <a:ea typeface="Lato"/>
                <a:cs typeface="Lato"/>
                <a:hlinkClick r:id="rId4"/>
              </a:rPr>
              <a:t>https://medium.com/@vg498660/wasserstein-gan-with-gradient-penalty-wgan-gp-0892a51ea196</a:t>
            </a:r>
            <a:r>
              <a:rPr lang="vi-VN" sz="2000" i="1">
                <a:latin typeface="Times New Roman"/>
                <a:ea typeface="Lato"/>
                <a:cs typeface="Lato"/>
              </a:rPr>
              <a:t>.</a:t>
            </a:r>
          </a:p>
          <a:p>
            <a:pPr algn="just"/>
            <a:r>
              <a:rPr lang="vi-VN" sz="2000" i="1">
                <a:latin typeface="Times New Roman"/>
                <a:ea typeface="Lato"/>
                <a:cs typeface="Lato"/>
              </a:rPr>
              <a:t>[5] F.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Pasic</a:t>
            </a:r>
            <a:r>
              <a:rPr lang="vi-VN" sz="2000" i="1">
                <a:latin typeface="Times New Roman"/>
                <a:ea typeface="Lato"/>
                <a:cs typeface="Lato"/>
              </a:rPr>
              <a:t>, S.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Pratschner</a:t>
            </a:r>
            <a:r>
              <a:rPr lang="vi-VN" sz="2000" i="1">
                <a:latin typeface="Times New Roman"/>
                <a:ea typeface="Lato"/>
                <a:cs typeface="Lato"/>
              </a:rPr>
              <a:t>, R.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Langwieser</a:t>
            </a:r>
            <a:r>
              <a:rPr lang="vi-VN" sz="2000" i="1">
                <a:latin typeface="Times New Roman"/>
                <a:ea typeface="Lato"/>
                <a:cs typeface="Lato"/>
              </a:rPr>
              <a:t>, D.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Schuetzenhoefer</a:t>
            </a:r>
            <a:r>
              <a:rPr lang="vi-VN" sz="2000" i="1">
                <a:latin typeface="Times New Roman"/>
                <a:ea typeface="Lato"/>
                <a:cs typeface="Lato"/>
              </a:rPr>
              <a:t>, E.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Jirousek</a:t>
            </a:r>
            <a:r>
              <a:rPr lang="vi-VN" sz="2000" i="1">
                <a:latin typeface="Times New Roman"/>
                <a:ea typeface="Lato"/>
                <a:cs typeface="Lato"/>
              </a:rPr>
              <a:t>, H.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Groll</a:t>
            </a:r>
            <a:r>
              <a:rPr lang="vi-VN" sz="2000" i="1">
                <a:latin typeface="Times New Roman"/>
                <a:ea typeface="Lato"/>
                <a:cs typeface="Lato"/>
              </a:rPr>
              <a:t>, “So sánh phép đo dưới 6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GHz</a:t>
            </a:r>
            <a:r>
              <a:rPr lang="vi-VN" sz="2000" i="1">
                <a:latin typeface="Times New Roman"/>
                <a:ea typeface="Lato"/>
                <a:cs typeface="Lato"/>
              </a:rPr>
              <a:t> và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mmWave</a:t>
            </a:r>
            <a:r>
              <a:rPr lang="vi-VN" sz="2000" i="1">
                <a:latin typeface="Times New Roman"/>
                <a:ea typeface="Lato"/>
                <a:cs typeface="Lato"/>
              </a:rPr>
              <a:t> trong môi trường chuyển động cao được kiểm soát,” Hội thảo WSA 2021, VDE </a:t>
            </a:r>
            <a:r>
              <a:rPr lang="vi-VN" sz="2000" i="1" err="1">
                <a:latin typeface="Times New Roman"/>
                <a:ea typeface="Lato"/>
                <a:cs typeface="Lato"/>
              </a:rPr>
              <a:t>Verlag</a:t>
            </a:r>
            <a:r>
              <a:rPr lang="vi-VN" sz="2000" i="1">
                <a:latin typeface="Times New Roman"/>
                <a:ea typeface="Lato"/>
                <a:cs typeface="Lato"/>
              </a:rPr>
              <a:t>.</a:t>
            </a:r>
          </a:p>
          <a:p>
            <a:pPr algn="just"/>
            <a:endParaRPr lang="vi-VN" sz="2000" i="1">
              <a:latin typeface="Times New Roman"/>
            </a:endParaRPr>
          </a:p>
          <a:p>
            <a:pPr algn="just"/>
            <a:endParaRPr lang="vi-VN" sz="2000" i="1">
              <a:latin typeface="Times New Roman"/>
            </a:endParaRPr>
          </a:p>
          <a:p>
            <a:pPr algn="just"/>
            <a:endParaRPr lang="vi-VN" sz="2000" i="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6882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EF6B40FE-FFC8-DC93-BA48-1CD15CDE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396A734D-56BD-00B0-1443-F3C8EA5A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Times New Roman"/>
                <a:ea typeface="Lato"/>
                <a:cs typeface="Lato"/>
              </a:rPr>
              <a:t>Phân chia công việc</a:t>
            </a:r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DA57CE30-5E48-E822-F8C0-BA608DB1E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796365"/>
              </p:ext>
            </p:extLst>
          </p:nvPr>
        </p:nvGraphicFramePr>
        <p:xfrm>
          <a:off x="526067" y="2285999"/>
          <a:ext cx="8079359" cy="230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369003534"/>
                    </a:ext>
                  </a:extLst>
                </a:gridCol>
                <a:gridCol w="2516019">
                  <a:extLst>
                    <a:ext uri="{9D8B030D-6E8A-4147-A177-3AD203B41FA5}">
                      <a16:colId xmlns:a16="http://schemas.microsoft.com/office/drawing/2014/main" val="2840551245"/>
                    </a:ext>
                  </a:extLst>
                </a:gridCol>
                <a:gridCol w="2820140">
                  <a:extLst>
                    <a:ext uri="{9D8B030D-6E8A-4147-A177-3AD203B41FA5}">
                      <a16:colId xmlns:a16="http://schemas.microsoft.com/office/drawing/2014/main" val="2038108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/>
                        <a:t>Nội dung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/>
                        <a:t>Người phụ trách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/>
                        <a:t>Ghi chú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54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/>
                        <a:t>AI - SISO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/>
                        <a:t>Trang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/>
                        <a:t>Tham gia NCKH, trình bày tại Hội nghị Công nghệ chiến lược Úc- Việt Nam năm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2475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/>
                        <a:t>AI - MIMO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/>
                        <a:t>Hùng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/>
                        <a:t>Tham gia NCKH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943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/>
                        <a:t>Hệ thống OFDM-LDPC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>
                          <a:solidFill>
                            <a:schemeClr val="tx1"/>
                          </a:solidFill>
                        </a:rPr>
                        <a:t>Trang, Hùng</a:t>
                      </a:r>
                      <a:r>
                        <a:rPr lang="vi-VN"/>
                        <a:t>, Huy*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311878"/>
                  </a:ext>
                </a:extLst>
              </a:tr>
            </a:tbl>
          </a:graphicData>
        </a:graphic>
      </p:graphicFrame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92C1755D-BAB9-819C-4631-CF6983484C47}"/>
              </a:ext>
            </a:extLst>
          </p:cNvPr>
          <p:cNvSpPr txBox="1"/>
          <p:nvPr/>
        </p:nvSpPr>
        <p:spPr>
          <a:xfrm>
            <a:off x="2285956" y="1808018"/>
            <a:ext cx="54883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b="1" i="1">
                <a:latin typeface="Times New Roman"/>
                <a:cs typeface="Times New Roman"/>
              </a:rPr>
              <a:t>Bảng phân chia công việc, nội dung phụ trách</a:t>
            </a:r>
          </a:p>
        </p:txBody>
      </p:sp>
    </p:spTree>
    <p:extLst>
      <p:ext uri="{BB962C8B-B14F-4D97-AF65-F5344CB8AC3E}">
        <p14:creationId xmlns:p14="http://schemas.microsoft.com/office/powerpoint/2010/main" val="2743302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083056" y="1441678"/>
            <a:ext cx="3461482" cy="219135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ctr"/>
            <a:r>
              <a:rPr lang="en-US" sz="4000">
                <a:latin typeface="Lato"/>
                <a:ea typeface="Lato"/>
                <a:cs typeface="Lato"/>
              </a:rPr>
              <a:t>CẢM ƠN MỌI NGƯỜI ĐÃ LẮNG NGHE !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AAAF3AA8-1B7B-64F3-B568-FCE1CCF2F3BF}"/>
              </a:ext>
            </a:extLst>
          </p:cNvPr>
          <p:cNvSpPr txBox="1"/>
          <p:nvPr/>
        </p:nvSpPr>
        <p:spPr>
          <a:xfrm>
            <a:off x="3418040" y="5662285"/>
            <a:ext cx="538248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i="1">
                <a:latin typeface="Times New Roman"/>
                <a:ea typeface="+mn-lt"/>
                <a:cs typeface="Times New Roman"/>
              </a:rPr>
              <a:t>Mọi trao đổi thêm, vui lòng liên hệ qua </a:t>
            </a:r>
            <a:r>
              <a:rPr lang="vi-VN" i="1" err="1">
                <a:latin typeface="Times New Roman"/>
                <a:ea typeface="+mn-lt"/>
                <a:cs typeface="Times New Roman"/>
              </a:rPr>
              <a:t>email</a:t>
            </a:r>
            <a:r>
              <a:rPr lang="vi-VN" i="1">
                <a:latin typeface="Times New Roman"/>
                <a:ea typeface="+mn-lt"/>
                <a:cs typeface="Times New Roman"/>
              </a:rPr>
              <a:t> hoặc </a:t>
            </a:r>
            <a:r>
              <a:rPr lang="vi-VN" i="1" err="1">
                <a:latin typeface="Times New Roman"/>
                <a:ea typeface="+mn-lt"/>
                <a:cs typeface="Times New Roman"/>
              </a:rPr>
              <a:t>sdt</a:t>
            </a:r>
            <a:r>
              <a:rPr lang="vi-VN" i="1">
                <a:latin typeface="Times New Roman"/>
                <a:ea typeface="+mn-lt"/>
                <a:cs typeface="Times New Roman"/>
              </a:rPr>
              <a:t>:</a:t>
            </a:r>
            <a:br>
              <a:rPr lang="vi-VN" i="1">
                <a:latin typeface="Times New Roman"/>
                <a:ea typeface="+mn-lt"/>
                <a:cs typeface="Times New Roman"/>
              </a:rPr>
            </a:br>
            <a:r>
              <a:rPr lang="vi-VN" i="1">
                <a:latin typeface="Times New Roman"/>
                <a:ea typeface="+mn-lt"/>
                <a:cs typeface="Times New Roman"/>
              </a:rPr>
              <a:t>📩 </a:t>
            </a:r>
            <a:r>
              <a:rPr lang="vi-VN" i="1">
                <a:latin typeface="Times New Roman"/>
                <a:ea typeface="+mn-lt"/>
                <a:cs typeface="Times New Roman"/>
                <a:hlinkClick r:id="rId2"/>
              </a:rPr>
              <a:t>Trang.dtk210854@sis.hust.edu.vn</a:t>
            </a:r>
            <a:r>
              <a:rPr lang="vi-VN" b="1" i="1">
                <a:latin typeface="Times New Roman"/>
                <a:ea typeface="+mn-lt"/>
                <a:cs typeface="Times New Roman"/>
              </a:rPr>
              <a:t>  </a:t>
            </a:r>
            <a:r>
              <a:rPr lang="vi-VN" b="1" i="1">
                <a:solidFill>
                  <a:schemeClr val="bg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0386206280</a:t>
            </a:r>
          </a:p>
          <a:p>
            <a:r>
              <a:rPr lang="vi-VN" i="1">
                <a:latin typeface="Times New Roman"/>
                <a:cs typeface="Times New Roman"/>
              </a:rPr>
              <a:t>📩</a:t>
            </a:r>
            <a:r>
              <a:rPr lang="vi-VN" i="1">
                <a:latin typeface="Times New Roman"/>
                <a:cs typeface="Times New Roman"/>
                <a:hlinkClick r:id="rId3"/>
              </a:rPr>
              <a:t>Hung.nm213943@sis.hust.edu.vn</a:t>
            </a:r>
            <a:r>
              <a:rPr lang="vi-VN" i="1">
                <a:latin typeface="Times New Roman"/>
                <a:cs typeface="Times New Roman"/>
              </a:rPr>
              <a:t>    </a:t>
            </a:r>
            <a:r>
              <a:rPr lang="vi-VN" b="1" i="1">
                <a:solidFill>
                  <a:schemeClr val="bg2">
                    <a:lumMod val="76000"/>
                  </a:schemeClr>
                </a:solidFill>
                <a:latin typeface="Times New Roman"/>
                <a:cs typeface="Times New Roman"/>
              </a:rPr>
              <a:t>0948172418</a:t>
            </a:r>
            <a:endParaRPr lang="vi-VN" i="1">
              <a:solidFill>
                <a:schemeClr val="bg2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endParaRPr lang="vi-VN" i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C12A407-5FB5-6693-A835-B1AC86C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54BDAFCA-D5E8-60A7-4369-191FE536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Lato"/>
                <a:ea typeface="Lato"/>
                <a:cs typeface="Lato"/>
              </a:rPr>
              <a:t>Phụ lục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476BDA5-4790-04ED-3E19-2CCB9B4648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3736" y="1135335"/>
            <a:ext cx="4522954" cy="589527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b="1">
                <a:latin typeface="Lato"/>
                <a:ea typeface="Lato"/>
                <a:cs typeface="Lato"/>
              </a:rPr>
              <a:t>Các thông số thiết kế hệ thống</a:t>
            </a:r>
            <a:endParaRPr lang="en-US" sz="2400" b="1">
              <a:latin typeface="Lato"/>
              <a:ea typeface="Lato"/>
              <a:cs typeface="Lato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BC943E23-D5BA-27DD-E396-C514A6546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37" t="8324" r="7392"/>
          <a:stretch>
            <a:fillRect/>
          </a:stretch>
        </p:blipFill>
        <p:spPr>
          <a:xfrm>
            <a:off x="4478650" y="2265684"/>
            <a:ext cx="4636655" cy="3278909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691222A2-6ABC-061D-2720-80A92E83B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678" y="2339262"/>
            <a:ext cx="4507344" cy="2505425"/>
          </a:xfrm>
          <a:prstGeom prst="rect">
            <a:avLst/>
          </a:prstGeom>
        </p:spPr>
      </p:pic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F45AC80E-FA01-7F1B-073B-30BA8A4522E5}"/>
              </a:ext>
            </a:extLst>
          </p:cNvPr>
          <p:cNvSpPr txBox="1"/>
          <p:nvPr/>
        </p:nvSpPr>
        <p:spPr>
          <a:xfrm>
            <a:off x="76778" y="1942187"/>
            <a:ext cx="4133439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vi-VN" sz="1600" b="1">
                <a:latin typeface="Times New Roman"/>
                <a:cs typeface="Times New Roman"/>
              </a:rPr>
              <a:t>Bảng 3.1 Tham số cho mô hình WGAN-SISO</a:t>
            </a:r>
            <a:endParaRPr lang="vi-VN" sz="1600">
              <a:latin typeface="Times New Roman"/>
              <a:cs typeface="Times New Roman"/>
            </a:endParaRPr>
          </a:p>
          <a:p>
            <a:endParaRPr lang="vi-VN" sz="1600" b="1">
              <a:latin typeface="Times New Roman"/>
              <a:cs typeface="Times New Roman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5DCEE6AC-1FC4-7932-2A21-6E03B7FD75A6}"/>
              </a:ext>
            </a:extLst>
          </p:cNvPr>
          <p:cNvSpPr txBox="1"/>
          <p:nvPr/>
        </p:nvSpPr>
        <p:spPr>
          <a:xfrm>
            <a:off x="4501219" y="1899580"/>
            <a:ext cx="526832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 b="1">
                <a:latin typeface="Times New Roman"/>
              </a:rPr>
              <a:t>Bảng 3.2 Tham số cho mô hình WGAN-MIMO</a:t>
            </a:r>
            <a:endParaRPr lang="vi-VN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5782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B3D7ED69-6013-E6E8-6ED6-E36FDE53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20701CB1-CEB9-A788-9271-0019F57C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Lato"/>
                <a:ea typeface="Lato"/>
                <a:cs typeface="Lato"/>
              </a:rPr>
              <a:t>Phụ lục</a:t>
            </a:r>
            <a:endParaRPr lang="vi-VN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13E12D56-AD12-328C-7DC6-C5DA9612598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Lato"/>
                <a:ea typeface="Lato"/>
                <a:cs typeface="Lato"/>
              </a:rPr>
              <a:t>Công thức</a:t>
            </a:r>
          </a:p>
        </p:txBody>
      </p:sp>
      <p:pic>
        <p:nvPicPr>
          <p:cNvPr id="5" name="Hình ảnh 4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CC4B6B6D-B66C-5132-F2A4-2B564B87E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39" y="1897886"/>
            <a:ext cx="6619875" cy="1933575"/>
          </a:xfrm>
          <a:prstGeom prst="rect">
            <a:avLst/>
          </a:prstGeom>
        </p:spPr>
      </p:pic>
      <p:pic>
        <p:nvPicPr>
          <p:cNvPr id="6" name="Hình ảnh 5" descr="Ảnh có chứa văn bản, Phông chữ, ảnh chụp màn hình, hàng&#10;&#10;Nội dung do AI tạo ra có thể không chính xác.">
            <a:extLst>
              <a:ext uri="{FF2B5EF4-FFF2-40B4-BE49-F238E27FC236}">
                <a16:creationId xmlns:a16="http://schemas.microsoft.com/office/drawing/2014/main" id="{4D8BEAC2-EC1A-39B3-B883-2C131ED1B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761" y="4010683"/>
            <a:ext cx="67437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80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B18B1243-AE18-CDF1-70E8-4DDA55F1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6446A57-3965-680B-4824-B5522742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Lato"/>
                <a:ea typeface="Lato"/>
                <a:cs typeface="Lato"/>
              </a:rPr>
              <a:t>Phụ lục</a:t>
            </a:r>
            <a:endParaRPr lang="vi-VN"/>
          </a:p>
        </p:txBody>
      </p:sp>
      <p:pic>
        <p:nvPicPr>
          <p:cNvPr id="6" name="Hình ảnh 5" descr="Ảnh có chứa văn bản, Phông chữ, ảnh chụp màn hình, thông tin&#10;&#10;Nội dung do AI tạo ra có thể không chính xác.">
            <a:extLst>
              <a:ext uri="{FF2B5EF4-FFF2-40B4-BE49-F238E27FC236}">
                <a16:creationId xmlns:a16="http://schemas.microsoft.com/office/drawing/2014/main" id="{42FA6A64-ECA0-3572-739E-A5F3B640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57" y="816261"/>
            <a:ext cx="6705600" cy="1552575"/>
          </a:xfrm>
          <a:prstGeom prst="rect">
            <a:avLst/>
          </a:prstGeom>
        </p:spPr>
      </p:pic>
      <p:pic>
        <p:nvPicPr>
          <p:cNvPr id="7" name="Hình ảnh 6" descr="Ảnh có chứa văn bản, Phông chữ, ảnh chụp màn hình, hàng&#10;&#10;Nội dung do AI tạo ra có thể không chính xác.">
            <a:extLst>
              <a:ext uri="{FF2B5EF4-FFF2-40B4-BE49-F238E27FC236}">
                <a16:creationId xmlns:a16="http://schemas.microsoft.com/office/drawing/2014/main" id="{308E97CE-5834-4457-5450-085180CAB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60" y="2371167"/>
            <a:ext cx="6638925" cy="1847850"/>
          </a:xfrm>
          <a:prstGeom prst="rect">
            <a:avLst/>
          </a:prstGeom>
        </p:spPr>
      </p:pic>
      <p:pic>
        <p:nvPicPr>
          <p:cNvPr id="8" name="Hình ảnh 7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F1DDA1EA-AB0D-FDE8-6D46-A6F5154FE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78" y="4127215"/>
            <a:ext cx="67437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43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3D48-891D-4A37-900E-D725B664D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3635D8C-4BC4-1F35-71CF-D07C8DA9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6F045C4D-7B0C-73A2-1A89-474641AB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Lato"/>
                <a:ea typeface="Lato"/>
                <a:cs typeface="Lato"/>
              </a:rPr>
              <a:t>Phụ lục</a:t>
            </a:r>
            <a:endParaRPr lang="vi-VN"/>
          </a:p>
        </p:txBody>
      </p:sp>
      <p:pic>
        <p:nvPicPr>
          <p:cNvPr id="5" name="Hình ảnh 4" descr="Ảnh có chứa văn bản, ảnh chụp màn hình, Phông chữ&#10;&#10;Nội dung do AI tạo ra có thể không chính xác.">
            <a:extLst>
              <a:ext uri="{FF2B5EF4-FFF2-40B4-BE49-F238E27FC236}">
                <a16:creationId xmlns:a16="http://schemas.microsoft.com/office/drawing/2014/main" id="{6C265D67-62CC-5080-556C-66DFB67EB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0" y="4310580"/>
            <a:ext cx="6112061" cy="2445374"/>
          </a:xfrm>
          <a:prstGeom prst="rect">
            <a:avLst/>
          </a:prstGeom>
        </p:spPr>
      </p:pic>
      <p:pic>
        <p:nvPicPr>
          <p:cNvPr id="4" name="Hình ảnh 3" descr="Ảnh có chứa văn bản, ảnh chụp màn hình, Phông chữ&#10;&#10;Nội dung do AI tạo ra có thể không chính xác.">
            <a:extLst>
              <a:ext uri="{FF2B5EF4-FFF2-40B4-BE49-F238E27FC236}">
                <a16:creationId xmlns:a16="http://schemas.microsoft.com/office/drawing/2014/main" id="{D0FF42A6-E761-01A0-481F-CE109A4A6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874" y="869904"/>
            <a:ext cx="6102855" cy="344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0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CC921B4-BE90-50AB-A243-BBA84AFE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A5C72918-AEB1-1430-14EF-22CBFFB6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Hình ảnh 4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F2D30780-677B-78AE-CB70-8828F2894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90" y="1054385"/>
            <a:ext cx="5750909" cy="3783179"/>
          </a:xfrm>
          <a:prstGeom prst="rect">
            <a:avLst/>
          </a:prstGeom>
        </p:spPr>
      </p:pic>
      <p:pic>
        <p:nvPicPr>
          <p:cNvPr id="6" name="Hình ảnh 5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C399329D-B173-C5E7-17F8-94E1DB838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760" y="4844100"/>
            <a:ext cx="6373302" cy="151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93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30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Nội dung</vt:lpstr>
      <vt:lpstr>Chương 1: Đặt vấn đề</vt:lpstr>
      <vt:lpstr>Đóng góp trong đề tài </vt:lpstr>
      <vt:lpstr>Chương 2: Cơ sở lý thuyết</vt:lpstr>
      <vt:lpstr>Mô hình kênh song sinh kỹ thuật số (Digital Channel)</vt:lpstr>
      <vt:lpstr>Ứng dụng GAN trong Digital Twin channel</vt:lpstr>
      <vt:lpstr>Mạng đối nghịch tạo sinh (Generative Adversarial Networks- GAN)  </vt:lpstr>
      <vt:lpstr>Kiến trúc mạng GAN</vt:lpstr>
      <vt:lpstr>Mô hình WGAN</vt:lpstr>
      <vt:lpstr>Chương 3: Thiết kế và triển khai hệ thống</vt:lpstr>
      <vt:lpstr>Kiến trúc mô hình WGAN-GP cho dữ liệu SISO</vt:lpstr>
      <vt:lpstr>Kiến trúc mô hình WGAN-GP cho dữ liệu MIMO </vt:lpstr>
      <vt:lpstr>Chương 3: Thiết kế và triển khai hệ thống</vt:lpstr>
      <vt:lpstr>Chương 4: Kết quả và đánh giá</vt:lpstr>
      <vt:lpstr>Kết quả SISO</vt:lpstr>
      <vt:lpstr>Kết quả SISO</vt:lpstr>
      <vt:lpstr>BER hệ thống SISO – Coded OFDM</vt:lpstr>
      <vt:lpstr>Kết quả MIMO</vt:lpstr>
      <vt:lpstr>Kết quả MIMO</vt:lpstr>
      <vt:lpstr>Chương 5: Kết luận, hướng phát triển</vt:lpstr>
      <vt:lpstr>Tài liệu tham khảo</vt:lpstr>
      <vt:lpstr>Phân chia công việc</vt:lpstr>
      <vt:lpstr>PowerPoint Presentation</vt:lpstr>
      <vt:lpstr>Phụ lục</vt:lpstr>
      <vt:lpstr>Phụ lục</vt:lpstr>
      <vt:lpstr>Phụ lục</vt:lpstr>
      <vt:lpstr>Phụ lục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revision>31</cp:revision>
  <dcterms:created xsi:type="dcterms:W3CDTF">2021-05-28T04:32:29Z</dcterms:created>
  <dcterms:modified xsi:type="dcterms:W3CDTF">2025-07-09T00:12:33Z</dcterms:modified>
</cp:coreProperties>
</file>